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47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Images</c:v>
          </c:tx>
          <c:spPr>
            <a:solidFill>
              <a:srgbClr val="FF6B35"/>
            </a:solidFill>
          </c:spPr>
          <c:invertIfNegative val="1"/>
          <c:dLbls>
            <c:delete val="1"/>
          </c:dLbls>
          <c:cat>
            <c:strLit>
              <c:ptCount val="7"/>
              <c:pt idx="0">
                <c:v>akiec</c:v>
              </c:pt>
              <c:pt idx="1">
                <c:v>bcc</c:v>
              </c:pt>
              <c:pt idx="2">
                <c:v>bkl</c:v>
              </c:pt>
              <c:pt idx="3">
                <c:v>df</c:v>
              </c:pt>
              <c:pt idx="4">
                <c:v>mel</c:v>
              </c:pt>
              <c:pt idx="5">
                <c:v>nv</c:v>
              </c:pt>
              <c:pt idx="6">
                <c:v>vasc</c:v>
              </c:pt>
            </c:strLit>
          </c:cat>
          <c:val>
            <c:numLit>
              <c:formatCode>General</c:formatCode>
              <c:ptCount val="7"/>
              <c:pt idx="0">
                <c:v>327</c:v>
              </c:pt>
              <c:pt idx="1">
                <c:v>514</c:v>
              </c:pt>
              <c:pt idx="2">
                <c:v>1099</c:v>
              </c:pt>
              <c:pt idx="3">
                <c:v>115</c:v>
              </c:pt>
              <c:pt idx="4">
                <c:v>1113</c:v>
              </c:pt>
              <c:pt idx="5">
                <c:v>6705</c:v>
              </c:pt>
              <c:pt idx="6">
                <c:v>142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BED-444A-9A90-6229E1785BC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B8BCC4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Val F1</c:v>
          </c:tx>
          <c:cat>
            <c:numLit>
              <c:formatCode>General</c:formatCode>
              <c:ptCount val="7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</c:numLit>
          </c:cat>
          <c:val>
            <c:numLit>
              <c:formatCode>General</c:formatCode>
              <c:ptCount val="7"/>
              <c:pt idx="0">
                <c:v>0.30790000000000001</c:v>
              </c:pt>
              <c:pt idx="1">
                <c:v>0.36180000000000001</c:v>
              </c:pt>
              <c:pt idx="2">
                <c:v>0.4118</c:v>
              </c:pt>
              <c:pt idx="3">
                <c:v>0.39450000000000002</c:v>
              </c:pt>
              <c:pt idx="4">
                <c:v>0.44169999999999998</c:v>
              </c:pt>
              <c:pt idx="5">
                <c:v>0.42870000000000003</c:v>
              </c:pt>
              <c:pt idx="6">
                <c:v>0.45879999999999999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F25B-442F-8824-73490486E11A}"/>
            </c:ext>
          </c:extLst>
        </c:ser>
        <c:ser>
          <c:idx val="1"/>
          <c:order val="1"/>
          <c:tx>
            <c:v>Val accuracy</c:v>
          </c:tx>
          <c:cat>
            <c:numLit>
              <c:formatCode>General</c:formatCode>
              <c:ptCount val="7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</c:numLit>
          </c:cat>
          <c:val>
            <c:numLit>
              <c:formatCode>General</c:formatCode>
              <c:ptCount val="7"/>
              <c:pt idx="0">
                <c:v>0.316</c:v>
              </c:pt>
              <c:pt idx="1">
                <c:v>0.3846</c:v>
              </c:pt>
              <c:pt idx="2">
                <c:v>0.48099999999999998</c:v>
              </c:pt>
              <c:pt idx="3">
                <c:v>0.44309999999999999</c:v>
              </c:pt>
              <c:pt idx="4">
                <c:v>0.46039999999999998</c:v>
              </c:pt>
              <c:pt idx="5">
                <c:v>0.4405</c:v>
              </c:pt>
              <c:pt idx="6">
                <c:v>0.47170000000000001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1-F25B-442F-8824-73490486E1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B8BCC4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  <c:dispBlanksAs val="zero"/>
    <c:showDLblsOverMax val="1"/>
  </c:char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Score</c:v>
          </c:tx>
          <c:spPr>
            <a:solidFill>
              <a:srgbClr val="FF6B35"/>
            </a:solidFill>
          </c:spPr>
          <c:invertIfNegative val="1"/>
          <c:dLbls>
            <c:delete val="1"/>
          </c:dLbls>
          <c:cat>
            <c:strLit>
              <c:ptCount val="5"/>
              <c:pt idx="0">
                <c:v>Accuracy</c:v>
              </c:pt>
              <c:pt idx="1">
                <c:v>Precision</c:v>
              </c:pt>
              <c:pt idx="2">
                <c:v>Recall</c:v>
              </c:pt>
              <c:pt idx="3">
                <c:v>F1</c:v>
              </c:pt>
              <c:pt idx="4">
                <c:v>ROC-AUC</c:v>
              </c:pt>
            </c:strLit>
          </c:cat>
          <c:val>
            <c:numLit>
              <c:formatCode>General</c:formatCode>
              <c:ptCount val="5"/>
              <c:pt idx="0">
                <c:v>46.7</c:v>
              </c:pt>
              <c:pt idx="1">
                <c:v>44.8</c:v>
              </c:pt>
              <c:pt idx="2">
                <c:v>75.7</c:v>
              </c:pt>
              <c:pt idx="3">
                <c:v>46.7</c:v>
              </c:pt>
              <c:pt idx="4">
                <c:v>94.4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3F4-421B-8179-C1BC9E75E53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00"/>
        </c:scaling>
        <c:delete val="0"/>
        <c:axPos val="l"/>
        <c:majorGridlines>
          <c:spPr>
            <a:ln w="9525">
              <a:solidFill>
                <a:srgbClr val="B8BCC4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AS3wpuwDXT_5_Hgdofxd23CEbWYO0Bqz/view?usp=sharing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B2392F9-B135-4E21-94C1-463B38FFF8CF}"/>
              </a:ext>
            </a:extLst>
          </p:cNvPr>
          <p:cNvSpPr>
            <a:spLocks noGrp="1"/>
          </p:cNvSpPr>
          <p:nvPr/>
        </p:nvSpPr>
        <p:spPr>
          <a:xfrm>
            <a:off x="666750" y="876300"/>
            <a:ext cx="84772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800" b="1">
                <a:solidFill>
                  <a:srgbClr val="111111"/>
                </a:solidFill>
              </a:defRPr>
            </a:pPr>
            <a:r>
              <a:rPr sz="4800" b="1">
                <a:solidFill>
                  <a:srgbClr val="111111"/>
                </a:solidFill>
              </a:rPr>
              <a:t>Skin Cancer Detection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015C63-24B2-4585-BEF8-120EE275C79B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8953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0">
                <a:solidFill>
                  <a:srgbClr val="555555"/>
                </a:solidFill>
              </a:defRPr>
            </a:pPr>
            <a:r>
              <a:rPr sz="2550" b="0">
                <a:solidFill>
                  <a:srgbClr val="555555"/>
                </a:solidFill>
              </a:rPr>
              <a:t>Using Deep Learning and Explainable AI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B9CFC4-2CD1-4E34-A802-444E9BF636E8}"/>
              </a:ext>
            </a:extLst>
          </p:cNvPr>
          <p:cNvSpPr>
            <a:spLocks noGrp="1"/>
          </p:cNvSpPr>
          <p:nvPr/>
        </p:nvSpPr>
        <p:spPr>
          <a:xfrm>
            <a:off x="704850" y="2762250"/>
            <a:ext cx="6286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HAM10000 | PyTorch | EfficientNet | ViT | Grad-CAM | Streamlit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6F0E23-BD21-4DF2-8AFD-7B6857B6C16E}"/>
              </a:ext>
            </a:extLst>
          </p:cNvPr>
          <p:cNvSpPr>
            <a:spLocks noGrp="1"/>
          </p:cNvSpPr>
          <p:nvPr/>
        </p:nvSpPr>
        <p:spPr>
          <a:xfrm>
            <a:off x="685800" y="3619499"/>
            <a:ext cx="5143500" cy="1345905"/>
          </a:xfrm>
          <a:prstGeom prst="rect">
            <a:avLst/>
          </a:prstGeom>
          <a:solidFill>
            <a:srgbClr val="20242A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25B9D7-6716-4DF5-905D-80BF3EE1F33D}"/>
              </a:ext>
            </a:extLst>
          </p:cNvPr>
          <p:cNvSpPr>
            <a:spLocks noGrp="1"/>
          </p:cNvSpPr>
          <p:nvPr/>
        </p:nvSpPr>
        <p:spPr>
          <a:xfrm>
            <a:off x="952500" y="3905250"/>
            <a:ext cx="4572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FFFFFF"/>
                </a:solidFill>
              </a:defRPr>
            </a:pPr>
            <a:r>
              <a:rPr sz="2100" b="1" dirty="0">
                <a:solidFill>
                  <a:srgbClr val="FFFFFF"/>
                </a:solidFill>
              </a:rPr>
              <a:t>End-to-end application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03026A-2636-4066-8702-57A53773744A}"/>
              </a:ext>
            </a:extLst>
          </p:cNvPr>
          <p:cNvSpPr>
            <a:spLocks noGrp="1"/>
          </p:cNvSpPr>
          <p:nvPr/>
        </p:nvSpPr>
        <p:spPr>
          <a:xfrm>
            <a:off x="952500" y="4305300"/>
            <a:ext cx="438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E8E8E8"/>
                </a:solidFill>
              </a:defRPr>
            </a:pPr>
            <a:r>
              <a:rPr sz="1275" b="0">
                <a:solidFill>
                  <a:srgbClr val="E8E8E8"/>
                </a:solidFill>
              </a:rPr>
              <a:t>From dataset loading to a working web app with prediction heatmaps.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rcRect l="12500" r="12500"/>
          <a:stretch>
            <a:fillRect/>
          </a:stretch>
        </p:blipFill>
        <p:spPr>
          <a:xfrm>
            <a:off x="7429500" y="876300"/>
            <a:ext cx="3619500" cy="36195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1DD71A5-61FE-4B38-B79B-DACCD939D27F}"/>
              </a:ext>
            </a:extLst>
          </p:cNvPr>
          <p:cNvSpPr>
            <a:spLocks noGrp="1"/>
          </p:cNvSpPr>
          <p:nvPr/>
        </p:nvSpPr>
        <p:spPr>
          <a:xfrm>
            <a:off x="11755621" y="6491177"/>
            <a:ext cx="397392" cy="293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55555"/>
                </a:solidFill>
              </a:defRPr>
            </a:pPr>
            <a:r>
              <a:rPr sz="1050" b="0" dirty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26307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F5C95B3-AE87-4314-8351-E37025351718}"/>
              </a:ext>
            </a:extLst>
          </p:cNvPr>
          <p:cNvSpPr>
            <a:spLocks noGrp="1"/>
          </p:cNvSpPr>
          <p:nvPr/>
        </p:nvSpPr>
        <p:spPr>
          <a:xfrm>
            <a:off x="514350" y="34290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6B35"/>
                </a:solidFill>
              </a:defRPr>
            </a:pPr>
            <a:r>
              <a:rPr sz="1200" b="1" dirty="0">
                <a:solidFill>
                  <a:srgbClr val="FF6B35"/>
                </a:solidFill>
              </a:rPr>
              <a:t>SKIN CANCER DETECTION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E14152-A360-4537-884A-00EDB1EE8739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8763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Project objective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2BB58C-AFFC-4771-9F7A-7E4871CF771D}"/>
              </a:ext>
            </a:extLst>
          </p:cNvPr>
          <p:cNvSpPr>
            <a:spLocks noGrp="1"/>
          </p:cNvSpPr>
          <p:nvPr/>
        </p:nvSpPr>
        <p:spPr>
          <a:xfrm>
            <a:off x="514350" y="1562100"/>
            <a:ext cx="11163300" cy="14288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492D69-E8C3-4AF2-8AB6-7D32283FD097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9715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11111"/>
                </a:solidFill>
              </a:defRPr>
            </a:pPr>
            <a:r>
              <a:rPr sz="2250" b="1" dirty="0">
                <a:solidFill>
                  <a:srgbClr val="111111"/>
                </a:solidFill>
              </a:rPr>
              <a:t>Build a complete pipeline that can classify </a:t>
            </a:r>
            <a:r>
              <a:rPr sz="2250" b="1" dirty="0" err="1">
                <a:solidFill>
                  <a:srgbClr val="111111"/>
                </a:solidFill>
              </a:rPr>
              <a:t>dermoscopic</a:t>
            </a:r>
            <a:r>
              <a:rPr sz="2250" b="1" dirty="0">
                <a:solidFill>
                  <a:srgbClr val="111111"/>
                </a:solidFill>
              </a:rPr>
              <a:t> lesion images and explain the visual evidence behind each prediction.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DE165E-0E46-461B-8F4B-25625378B58A}"/>
              </a:ext>
            </a:extLst>
          </p:cNvPr>
          <p:cNvSpPr>
            <a:spLocks noGrp="1"/>
          </p:cNvSpPr>
          <p:nvPr/>
        </p:nvSpPr>
        <p:spPr>
          <a:xfrm>
            <a:off x="857250" y="3238500"/>
            <a:ext cx="8572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111111"/>
                </a:solidFill>
              </a:defRPr>
            </a:pPr>
            <a:r>
              <a:rPr sz="1800" b="0" dirty="0">
                <a:solidFill>
                  <a:srgbClr val="111111"/>
                </a:solidFill>
              </a:rPr>
              <a:t>- Use HAM10000 as the supervised image dataset.</a:t>
            </a:r>
          </a:p>
          <a:p>
            <a:pPr algn="l">
              <a:defRPr sz="1800" b="0">
                <a:solidFill>
                  <a:srgbClr val="111111"/>
                </a:solidFill>
              </a:defRPr>
            </a:pPr>
            <a:r>
              <a:rPr sz="1800" b="0" dirty="0">
                <a:solidFill>
                  <a:srgbClr val="111111"/>
                </a:solidFill>
              </a:rPr>
              <a:t>- Compare a CNN against a Vision Transformer.</a:t>
            </a:r>
          </a:p>
          <a:p>
            <a:pPr>
              <a:defRPr sz="1800" b="0">
                <a:solidFill>
                  <a:srgbClr val="111111"/>
                </a:solidFill>
              </a:defRPr>
            </a:pPr>
            <a:r>
              <a:rPr sz="1800" b="0" dirty="0">
                <a:solidFill>
                  <a:srgbClr val="111111"/>
                </a:solidFill>
              </a:rPr>
              <a:t>- Expose predictions through a </a:t>
            </a:r>
            <a:r>
              <a:rPr sz="1800" b="0" dirty="0" err="1">
                <a:solidFill>
                  <a:srgbClr val="111111"/>
                </a:solidFill>
              </a:rPr>
              <a:t>Streamlit</a:t>
            </a:r>
            <a:r>
              <a:rPr sz="1800" b="0" dirty="0">
                <a:solidFill>
                  <a:srgbClr val="111111"/>
                </a:solidFill>
              </a:rPr>
              <a:t> ap</a:t>
            </a:r>
            <a:r>
              <a:rPr lang="en-IN" sz="1800" b="0" dirty="0">
                <a:solidFill>
                  <a:srgbClr val="111111"/>
                </a:solidFill>
              </a:rPr>
              <a:t>p with </a:t>
            </a:r>
            <a:r>
              <a:rPr lang="en-IN" dirty="0"/>
              <a:t>Grad-CAM Explainable AI.</a:t>
            </a:r>
            <a:endParaRPr sz="1800" b="0" dirty="0">
              <a:solidFill>
                <a:srgbClr val="11111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E47217-6121-486F-BEA9-7FDBB9845671}"/>
              </a:ext>
            </a:extLst>
          </p:cNvPr>
          <p:cNvSpPr>
            <a:spLocks noGrp="1"/>
          </p:cNvSpPr>
          <p:nvPr/>
        </p:nvSpPr>
        <p:spPr>
          <a:xfrm>
            <a:off x="9620250" y="2209800"/>
            <a:ext cx="1619250" cy="21907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F88923-2712-4E88-8E11-E2265BA3068E}"/>
              </a:ext>
            </a:extLst>
          </p:cNvPr>
          <p:cNvSpPr>
            <a:spLocks noGrp="1"/>
          </p:cNvSpPr>
          <p:nvPr/>
        </p:nvSpPr>
        <p:spPr>
          <a:xfrm>
            <a:off x="10001250" y="2457450"/>
            <a:ext cx="95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4650" b="1">
                <a:solidFill>
                  <a:srgbClr val="111111"/>
                </a:solidFill>
              </a:defRPr>
            </a:pPr>
            <a:r>
              <a:rPr sz="4650" b="1">
                <a:solidFill>
                  <a:srgbClr val="111111"/>
                </a:solidFill>
              </a:rPr>
              <a:t>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7414C0-79E6-4168-B533-B072AA14B8A2}"/>
              </a:ext>
            </a:extLst>
          </p:cNvPr>
          <p:cNvSpPr>
            <a:spLocks noGrp="1"/>
          </p:cNvSpPr>
          <p:nvPr/>
        </p:nvSpPr>
        <p:spPr>
          <a:xfrm>
            <a:off x="9810750" y="3238500"/>
            <a:ext cx="123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555555"/>
                </a:solidFill>
              </a:defRPr>
            </a:pPr>
            <a:r>
              <a:rPr sz="1500" b="1">
                <a:solidFill>
                  <a:srgbClr val="555555"/>
                </a:solidFill>
              </a:rPr>
              <a:t>diagnostic classes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8A703E-2A3B-35DA-5354-EB800CFBBFF4}"/>
              </a:ext>
            </a:extLst>
          </p:cNvPr>
          <p:cNvSpPr>
            <a:spLocks noGrp="1"/>
          </p:cNvSpPr>
          <p:nvPr/>
        </p:nvSpPr>
        <p:spPr>
          <a:xfrm>
            <a:off x="11755621" y="6491177"/>
            <a:ext cx="397392" cy="293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55555"/>
                </a:solidFill>
              </a:defRPr>
            </a:pPr>
            <a:r>
              <a:rPr sz="1050" b="0" dirty="0">
                <a:solidFill>
                  <a:srgbClr val="555555"/>
                </a:solidFill>
              </a:rPr>
              <a:t>0</a:t>
            </a:r>
            <a:r>
              <a:rPr lang="en-IN" sz="1050" b="0" dirty="0">
                <a:solidFill>
                  <a:srgbClr val="555555"/>
                </a:solidFill>
              </a:rPr>
              <a:t>2</a:t>
            </a:r>
            <a:endParaRPr sz="1050" b="0" dirty="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6015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F2E1907-1F06-4C9D-A0DE-63BEB25E1E86}"/>
              </a:ext>
            </a:extLst>
          </p:cNvPr>
          <p:cNvSpPr>
            <a:spLocks noGrp="1"/>
          </p:cNvSpPr>
          <p:nvPr/>
        </p:nvSpPr>
        <p:spPr>
          <a:xfrm>
            <a:off x="514350" y="34290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6B35"/>
                </a:solidFill>
              </a:defRPr>
            </a:pPr>
            <a:r>
              <a:rPr sz="1200" b="1" dirty="0">
                <a:solidFill>
                  <a:srgbClr val="FF6B35"/>
                </a:solidFill>
              </a:rPr>
              <a:t>SKIN CANCER DETECTION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9E8827-39AE-4BFD-B3C4-C7C3DCD3B01A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8763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Dataset: HAM10000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C10DDD-1C20-4966-9724-A4C67A7740BB}"/>
              </a:ext>
            </a:extLst>
          </p:cNvPr>
          <p:cNvSpPr>
            <a:spLocks noGrp="1"/>
          </p:cNvSpPr>
          <p:nvPr/>
        </p:nvSpPr>
        <p:spPr>
          <a:xfrm>
            <a:off x="514350" y="1562100"/>
            <a:ext cx="11163300" cy="14288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5AA451-4043-4A1F-A14D-FAEA670ADF61}"/>
              </a:ext>
            </a:extLst>
          </p:cNvPr>
          <p:cNvSpPr>
            <a:spLocks noGrp="1"/>
          </p:cNvSpPr>
          <p:nvPr/>
        </p:nvSpPr>
        <p:spPr>
          <a:xfrm>
            <a:off x="824023" y="5029200"/>
            <a:ext cx="49530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555555"/>
                </a:solidFill>
              </a:defRPr>
            </a:pPr>
            <a:r>
              <a:rPr sz="1650" b="0" dirty="0">
                <a:solidFill>
                  <a:srgbClr val="555555"/>
                </a:solidFill>
              </a:rPr>
              <a:t>The model cannot predict diseases outside these labels unless new labeled data is added.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1CE7CAB-5FDA-44C3-AA2F-B0C8C69C13F4}"/>
              </a:ext>
            </a:extLst>
          </p:cNvPr>
          <p:cNvSpPr>
            <a:spLocks noGrp="1"/>
          </p:cNvSpPr>
          <p:nvPr/>
        </p:nvSpPr>
        <p:spPr>
          <a:xfrm>
            <a:off x="824023" y="2076450"/>
            <a:ext cx="76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akiec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DAFA5B-EA21-4B12-94D9-63D1DA313EF5}"/>
              </a:ext>
            </a:extLst>
          </p:cNvPr>
          <p:cNvSpPr>
            <a:spLocks noGrp="1"/>
          </p:cNvSpPr>
          <p:nvPr/>
        </p:nvSpPr>
        <p:spPr>
          <a:xfrm>
            <a:off x="1662223" y="20764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Actinic keratoses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68BFC5-D01A-420D-B79B-F4ABAB886989}"/>
              </a:ext>
            </a:extLst>
          </p:cNvPr>
          <p:cNvSpPr>
            <a:spLocks noGrp="1"/>
          </p:cNvSpPr>
          <p:nvPr/>
        </p:nvSpPr>
        <p:spPr>
          <a:xfrm>
            <a:off x="824023" y="2438400"/>
            <a:ext cx="76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bcc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DE4F89-65B9-4040-AF3F-1CD2598E33D1}"/>
              </a:ext>
            </a:extLst>
          </p:cNvPr>
          <p:cNvSpPr>
            <a:spLocks noGrp="1"/>
          </p:cNvSpPr>
          <p:nvPr/>
        </p:nvSpPr>
        <p:spPr>
          <a:xfrm>
            <a:off x="1662223" y="243840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Basal cell carcinoma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58D46B-58BA-4121-BEDB-B54C3803C6EC}"/>
              </a:ext>
            </a:extLst>
          </p:cNvPr>
          <p:cNvSpPr>
            <a:spLocks noGrp="1"/>
          </p:cNvSpPr>
          <p:nvPr/>
        </p:nvSpPr>
        <p:spPr>
          <a:xfrm>
            <a:off x="824023" y="2800350"/>
            <a:ext cx="76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bkl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AFF584-101F-437A-B97C-FF178BFE4ABF}"/>
              </a:ext>
            </a:extLst>
          </p:cNvPr>
          <p:cNvSpPr>
            <a:spLocks noGrp="1"/>
          </p:cNvSpPr>
          <p:nvPr/>
        </p:nvSpPr>
        <p:spPr>
          <a:xfrm>
            <a:off x="1662223" y="28003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111"/>
                </a:solidFill>
              </a:defRPr>
            </a:pPr>
            <a:r>
              <a:rPr sz="1500" b="0" dirty="0">
                <a:solidFill>
                  <a:srgbClr val="111111"/>
                </a:solidFill>
              </a:rPr>
              <a:t>Benign keratosis-like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F58F8D-E817-4B1D-A401-2940835253B4}"/>
              </a:ext>
            </a:extLst>
          </p:cNvPr>
          <p:cNvSpPr>
            <a:spLocks noGrp="1"/>
          </p:cNvSpPr>
          <p:nvPr/>
        </p:nvSpPr>
        <p:spPr>
          <a:xfrm>
            <a:off x="824023" y="3162300"/>
            <a:ext cx="76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df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DB0A6B-BAAE-4B65-8DCC-F43F6B852855}"/>
              </a:ext>
            </a:extLst>
          </p:cNvPr>
          <p:cNvSpPr>
            <a:spLocks noGrp="1"/>
          </p:cNvSpPr>
          <p:nvPr/>
        </p:nvSpPr>
        <p:spPr>
          <a:xfrm>
            <a:off x="1662223" y="316230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Dermatofibroma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6A23491-0C52-4714-BC92-46857B0D6393}"/>
              </a:ext>
            </a:extLst>
          </p:cNvPr>
          <p:cNvSpPr>
            <a:spLocks noGrp="1"/>
          </p:cNvSpPr>
          <p:nvPr/>
        </p:nvSpPr>
        <p:spPr>
          <a:xfrm>
            <a:off x="824023" y="3524250"/>
            <a:ext cx="76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mel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11FEA4-85BC-4766-9310-F3A934A573AD}"/>
              </a:ext>
            </a:extLst>
          </p:cNvPr>
          <p:cNvSpPr>
            <a:spLocks noGrp="1"/>
          </p:cNvSpPr>
          <p:nvPr/>
        </p:nvSpPr>
        <p:spPr>
          <a:xfrm>
            <a:off x="1662223" y="35242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Melanoma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60A8DE-680C-4D86-B42C-1378FBBD9A75}"/>
              </a:ext>
            </a:extLst>
          </p:cNvPr>
          <p:cNvSpPr>
            <a:spLocks noGrp="1"/>
          </p:cNvSpPr>
          <p:nvPr/>
        </p:nvSpPr>
        <p:spPr>
          <a:xfrm>
            <a:off x="824023" y="3886200"/>
            <a:ext cx="76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nv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1F1A05-4518-4A56-9078-0BD510E8F1F3}"/>
              </a:ext>
            </a:extLst>
          </p:cNvPr>
          <p:cNvSpPr>
            <a:spLocks noGrp="1"/>
          </p:cNvSpPr>
          <p:nvPr/>
        </p:nvSpPr>
        <p:spPr>
          <a:xfrm>
            <a:off x="1662223" y="388620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111"/>
                </a:solidFill>
              </a:defRPr>
            </a:pPr>
            <a:r>
              <a:rPr sz="1500" b="0" dirty="0">
                <a:solidFill>
                  <a:srgbClr val="111111"/>
                </a:solidFill>
              </a:rPr>
              <a:t>Melanocytic nevi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B7029C6-0E56-4EFF-A658-6E922800E5B3}"/>
              </a:ext>
            </a:extLst>
          </p:cNvPr>
          <p:cNvSpPr>
            <a:spLocks noGrp="1"/>
          </p:cNvSpPr>
          <p:nvPr/>
        </p:nvSpPr>
        <p:spPr>
          <a:xfrm>
            <a:off x="824023" y="4248150"/>
            <a:ext cx="76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FF6B35"/>
                </a:solidFill>
              </a:defRPr>
            </a:pPr>
            <a:r>
              <a:rPr sz="1500" b="1">
                <a:solidFill>
                  <a:srgbClr val="FF6B35"/>
                </a:solidFill>
              </a:rPr>
              <a:t>vasc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8CF49FD-F704-4E14-AE6B-B755A4790FCC}"/>
              </a:ext>
            </a:extLst>
          </p:cNvPr>
          <p:cNvSpPr>
            <a:spLocks noGrp="1"/>
          </p:cNvSpPr>
          <p:nvPr/>
        </p:nvSpPr>
        <p:spPr>
          <a:xfrm>
            <a:off x="1662223" y="4248150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Vascular lesions</a:t>
            </a:r>
          </a:p>
        </p:txBody>
      </p:sp>
      <p:graphicFrame>
        <p:nvGraphicFramePr>
          <p:cNvPr id="39" name="Chart"/>
          <p:cNvGraphicFramePr/>
          <p:nvPr/>
        </p:nvGraphicFramePr>
        <p:xfrm>
          <a:off x="6191250" y="2076450"/>
          <a:ext cx="4953000" cy="3333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Rectangle 21">
            <a:extLst>
              <a:ext uri="{FF2B5EF4-FFF2-40B4-BE49-F238E27FC236}">
                <a16:creationId xmlns:a16="http://schemas.microsoft.com/office/drawing/2014/main" id="{2C82C532-B9FF-F364-B052-8F6DB5DAEE6F}"/>
              </a:ext>
            </a:extLst>
          </p:cNvPr>
          <p:cNvSpPr>
            <a:spLocks noGrp="1"/>
          </p:cNvSpPr>
          <p:nvPr/>
        </p:nvSpPr>
        <p:spPr>
          <a:xfrm>
            <a:off x="11755621" y="6491177"/>
            <a:ext cx="397392" cy="2937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55555"/>
                </a:solidFill>
              </a:defRPr>
            </a:pPr>
            <a:r>
              <a:rPr sz="1050" b="0" dirty="0">
                <a:solidFill>
                  <a:srgbClr val="555555"/>
                </a:solidFill>
              </a:rPr>
              <a:t>0</a:t>
            </a:r>
            <a:r>
              <a:rPr lang="en-IN" sz="1050" b="0" dirty="0">
                <a:solidFill>
                  <a:srgbClr val="555555"/>
                </a:solidFill>
              </a:rPr>
              <a:t>3</a:t>
            </a:r>
            <a:endParaRPr sz="1050" b="0" dirty="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159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9E325A52-C41B-42AE-80C6-70957E36AEFE}"/>
              </a:ext>
            </a:extLst>
          </p:cNvPr>
          <p:cNvSpPr>
            <a:spLocks noGrp="1"/>
          </p:cNvSpPr>
          <p:nvPr/>
        </p:nvSpPr>
        <p:spPr>
          <a:xfrm>
            <a:off x="514350" y="34290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6B35"/>
                </a:solidFill>
              </a:defRPr>
            </a:pPr>
            <a:r>
              <a:rPr sz="1200" b="1" dirty="0">
                <a:solidFill>
                  <a:srgbClr val="FF6B35"/>
                </a:solidFill>
              </a:rPr>
              <a:t>SKIN CANCER DETECTION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9BD7055-EF4C-4813-8E47-EDE77D4FD2A7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8763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End-to-end workflow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F67B3E-74B6-4760-8874-F95DAE544671}"/>
              </a:ext>
            </a:extLst>
          </p:cNvPr>
          <p:cNvSpPr>
            <a:spLocks noGrp="1"/>
          </p:cNvSpPr>
          <p:nvPr/>
        </p:nvSpPr>
        <p:spPr>
          <a:xfrm>
            <a:off x="514350" y="1562100"/>
            <a:ext cx="11163300" cy="14288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C5D82A-2E20-4677-BA38-989D91F81FF4}"/>
              </a:ext>
            </a:extLst>
          </p:cNvPr>
          <p:cNvSpPr>
            <a:spLocks noGrp="1"/>
          </p:cNvSpPr>
          <p:nvPr/>
        </p:nvSpPr>
        <p:spPr>
          <a:xfrm>
            <a:off x="666750" y="2571750"/>
            <a:ext cx="1381125" cy="10477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F13143-1882-42E0-BB2C-D73B6F140DDE}"/>
              </a:ext>
            </a:extLst>
          </p:cNvPr>
          <p:cNvSpPr>
            <a:spLocks noGrp="1"/>
          </p:cNvSpPr>
          <p:nvPr/>
        </p:nvSpPr>
        <p:spPr>
          <a:xfrm>
            <a:off x="819150" y="2724150"/>
            <a:ext cx="381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FEEC10-8385-47B6-95F6-8DF4E4DF0035}"/>
              </a:ext>
            </a:extLst>
          </p:cNvPr>
          <p:cNvSpPr>
            <a:spLocks noGrp="1"/>
          </p:cNvSpPr>
          <p:nvPr/>
        </p:nvSpPr>
        <p:spPr>
          <a:xfrm>
            <a:off x="819150" y="3143250"/>
            <a:ext cx="1047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Dataset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56CEA2-DB9E-400B-B62C-BE3434DB6A13}"/>
              </a:ext>
            </a:extLst>
          </p:cNvPr>
          <p:cNvSpPr>
            <a:spLocks noGrp="1"/>
          </p:cNvSpPr>
          <p:nvPr/>
        </p:nvSpPr>
        <p:spPr>
          <a:xfrm>
            <a:off x="2133600" y="2914650"/>
            <a:ext cx="266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555555"/>
                </a:solidFill>
              </a:defRPr>
            </a:pPr>
            <a:r>
              <a:rPr sz="2550" b="1">
                <a:solidFill>
                  <a:srgbClr val="555555"/>
                </a:solidFill>
              </a:rPr>
              <a:t>&gt;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F6E1F7-9077-4518-8AFC-1FE7A963A171}"/>
              </a:ext>
            </a:extLst>
          </p:cNvPr>
          <p:cNvSpPr>
            <a:spLocks noGrp="1"/>
          </p:cNvSpPr>
          <p:nvPr/>
        </p:nvSpPr>
        <p:spPr>
          <a:xfrm>
            <a:off x="2476500" y="2571750"/>
            <a:ext cx="1381125" cy="10477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9C9374-7AFE-48FE-B851-46B87F1ECE52}"/>
              </a:ext>
            </a:extLst>
          </p:cNvPr>
          <p:cNvSpPr>
            <a:spLocks noGrp="1"/>
          </p:cNvSpPr>
          <p:nvPr/>
        </p:nvSpPr>
        <p:spPr>
          <a:xfrm>
            <a:off x="2628900" y="2724150"/>
            <a:ext cx="381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4E61582-D924-44C9-96C5-F5D48F06CB3B}"/>
              </a:ext>
            </a:extLst>
          </p:cNvPr>
          <p:cNvSpPr>
            <a:spLocks noGrp="1"/>
          </p:cNvSpPr>
          <p:nvPr/>
        </p:nvSpPr>
        <p:spPr>
          <a:xfrm>
            <a:off x="2628899" y="3143250"/>
            <a:ext cx="122872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111"/>
                </a:solidFill>
              </a:defRPr>
            </a:pPr>
            <a:r>
              <a:rPr sz="1650" b="1" dirty="0">
                <a:solidFill>
                  <a:srgbClr val="111111"/>
                </a:solidFill>
              </a:rPr>
              <a:t>Preprocess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FB7943-29D0-4FDC-BE93-14ACBD3CD299}"/>
              </a:ext>
            </a:extLst>
          </p:cNvPr>
          <p:cNvSpPr>
            <a:spLocks noGrp="1"/>
          </p:cNvSpPr>
          <p:nvPr/>
        </p:nvSpPr>
        <p:spPr>
          <a:xfrm>
            <a:off x="3943350" y="2914650"/>
            <a:ext cx="266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555555"/>
                </a:solidFill>
              </a:defRPr>
            </a:pPr>
            <a:r>
              <a:rPr sz="2550" b="1">
                <a:solidFill>
                  <a:srgbClr val="555555"/>
                </a:solidFill>
              </a:rPr>
              <a:t>&gt;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A90962-3BA5-47FE-A4C5-8DAD0C24533A}"/>
              </a:ext>
            </a:extLst>
          </p:cNvPr>
          <p:cNvSpPr>
            <a:spLocks noGrp="1"/>
          </p:cNvSpPr>
          <p:nvPr/>
        </p:nvSpPr>
        <p:spPr>
          <a:xfrm>
            <a:off x="4286250" y="2571750"/>
            <a:ext cx="1381125" cy="1047750"/>
          </a:xfrm>
          <a:prstGeom prst="rect">
            <a:avLst/>
          </a:prstGeom>
          <a:solidFill>
            <a:srgbClr val="FFE7DB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077336-5472-4DFB-A022-8D984A6777ED}"/>
              </a:ext>
            </a:extLst>
          </p:cNvPr>
          <p:cNvSpPr>
            <a:spLocks noGrp="1"/>
          </p:cNvSpPr>
          <p:nvPr/>
        </p:nvSpPr>
        <p:spPr>
          <a:xfrm>
            <a:off x="4438650" y="2724150"/>
            <a:ext cx="381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52AEC7-6458-4C72-8CB2-D5F5F1BEFCBF}"/>
              </a:ext>
            </a:extLst>
          </p:cNvPr>
          <p:cNvSpPr>
            <a:spLocks noGrp="1"/>
          </p:cNvSpPr>
          <p:nvPr/>
        </p:nvSpPr>
        <p:spPr>
          <a:xfrm>
            <a:off x="4438650" y="3143250"/>
            <a:ext cx="1047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Train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DA2410-C021-44D4-B4C0-3A92939261CC}"/>
              </a:ext>
            </a:extLst>
          </p:cNvPr>
          <p:cNvSpPr>
            <a:spLocks noGrp="1"/>
          </p:cNvSpPr>
          <p:nvPr/>
        </p:nvSpPr>
        <p:spPr>
          <a:xfrm>
            <a:off x="5753100" y="2914650"/>
            <a:ext cx="266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555555"/>
                </a:solidFill>
              </a:defRPr>
            </a:pPr>
            <a:r>
              <a:rPr sz="2550" b="1">
                <a:solidFill>
                  <a:srgbClr val="555555"/>
                </a:solidFill>
              </a:rPr>
              <a:t>&gt;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C302286-5B86-48B0-95B4-2E5A2CDDE871}"/>
              </a:ext>
            </a:extLst>
          </p:cNvPr>
          <p:cNvSpPr>
            <a:spLocks noGrp="1"/>
          </p:cNvSpPr>
          <p:nvPr/>
        </p:nvSpPr>
        <p:spPr>
          <a:xfrm>
            <a:off x="6096000" y="2571750"/>
            <a:ext cx="1381125" cy="10477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4C5C563-C804-4775-B489-1E5DF305945F}"/>
              </a:ext>
            </a:extLst>
          </p:cNvPr>
          <p:cNvSpPr>
            <a:spLocks noGrp="1"/>
          </p:cNvSpPr>
          <p:nvPr/>
        </p:nvSpPr>
        <p:spPr>
          <a:xfrm>
            <a:off x="6248400" y="2724150"/>
            <a:ext cx="381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B6B8BE6-C8EF-40AF-85B5-CDDC0CFE83EE}"/>
              </a:ext>
            </a:extLst>
          </p:cNvPr>
          <p:cNvSpPr>
            <a:spLocks noGrp="1"/>
          </p:cNvSpPr>
          <p:nvPr/>
        </p:nvSpPr>
        <p:spPr>
          <a:xfrm>
            <a:off x="6248400" y="3143250"/>
            <a:ext cx="1047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Evaluate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CA3B04E-8FCC-458F-A5F6-40D5B1508EB0}"/>
              </a:ext>
            </a:extLst>
          </p:cNvPr>
          <p:cNvSpPr>
            <a:spLocks noGrp="1"/>
          </p:cNvSpPr>
          <p:nvPr/>
        </p:nvSpPr>
        <p:spPr>
          <a:xfrm>
            <a:off x="7562850" y="2914650"/>
            <a:ext cx="266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555555"/>
                </a:solidFill>
              </a:defRPr>
            </a:pPr>
            <a:r>
              <a:rPr sz="2550" b="1">
                <a:solidFill>
                  <a:srgbClr val="555555"/>
                </a:solidFill>
              </a:rPr>
              <a:t>&gt;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32EE1FE-A9BB-4708-9DD1-CC0B4A2270FA}"/>
              </a:ext>
            </a:extLst>
          </p:cNvPr>
          <p:cNvSpPr>
            <a:spLocks noGrp="1"/>
          </p:cNvSpPr>
          <p:nvPr/>
        </p:nvSpPr>
        <p:spPr>
          <a:xfrm>
            <a:off x="7905750" y="2571750"/>
            <a:ext cx="1381125" cy="10477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F65EF95-B5F6-4794-9B17-FE12F2C5D3C6}"/>
              </a:ext>
            </a:extLst>
          </p:cNvPr>
          <p:cNvSpPr>
            <a:spLocks noGrp="1"/>
          </p:cNvSpPr>
          <p:nvPr/>
        </p:nvSpPr>
        <p:spPr>
          <a:xfrm>
            <a:off x="8058150" y="2724150"/>
            <a:ext cx="381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5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DF30821-9111-4CEB-93C5-15EAC0F4972F}"/>
              </a:ext>
            </a:extLst>
          </p:cNvPr>
          <p:cNvSpPr>
            <a:spLocks noGrp="1"/>
          </p:cNvSpPr>
          <p:nvPr/>
        </p:nvSpPr>
        <p:spPr>
          <a:xfrm>
            <a:off x="8058150" y="3143250"/>
            <a:ext cx="1047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Explain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0115942-4F4B-4F68-BBF3-E715232C82B9}"/>
              </a:ext>
            </a:extLst>
          </p:cNvPr>
          <p:cNvSpPr>
            <a:spLocks noGrp="1"/>
          </p:cNvSpPr>
          <p:nvPr/>
        </p:nvSpPr>
        <p:spPr>
          <a:xfrm>
            <a:off x="9372600" y="2914650"/>
            <a:ext cx="2667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550" b="1">
                <a:solidFill>
                  <a:srgbClr val="555555"/>
                </a:solidFill>
              </a:defRPr>
            </a:pPr>
            <a:r>
              <a:rPr sz="2550" b="1">
                <a:solidFill>
                  <a:srgbClr val="555555"/>
                </a:solidFill>
              </a:rPr>
              <a:t>&gt;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43E89AF-197E-45A0-9862-FFFE51D331ED}"/>
              </a:ext>
            </a:extLst>
          </p:cNvPr>
          <p:cNvSpPr>
            <a:spLocks noGrp="1"/>
          </p:cNvSpPr>
          <p:nvPr/>
        </p:nvSpPr>
        <p:spPr>
          <a:xfrm>
            <a:off x="9715500" y="2571750"/>
            <a:ext cx="1381125" cy="10477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423B4FA-68BB-4B7D-B2BC-8068D7423803}"/>
              </a:ext>
            </a:extLst>
          </p:cNvPr>
          <p:cNvSpPr>
            <a:spLocks noGrp="1"/>
          </p:cNvSpPr>
          <p:nvPr/>
        </p:nvSpPr>
        <p:spPr>
          <a:xfrm>
            <a:off x="9867900" y="2724150"/>
            <a:ext cx="381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FF6B35"/>
                </a:solidFill>
              </a:defRPr>
            </a:pPr>
            <a:r>
              <a:rPr sz="2100" b="1">
                <a:solidFill>
                  <a:srgbClr val="FF6B35"/>
                </a:solidFill>
              </a:rPr>
              <a:t>6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E256B4C-4135-4585-AC53-65D6DE577D59}"/>
              </a:ext>
            </a:extLst>
          </p:cNvPr>
          <p:cNvSpPr>
            <a:spLocks noGrp="1"/>
          </p:cNvSpPr>
          <p:nvPr/>
        </p:nvSpPr>
        <p:spPr>
          <a:xfrm>
            <a:off x="9867900" y="3143250"/>
            <a:ext cx="1047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Deploy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9563725-F07A-45C5-8ECF-F1F4760EFD5B}"/>
              </a:ext>
            </a:extLst>
          </p:cNvPr>
          <p:cNvSpPr>
            <a:spLocks noGrp="1"/>
          </p:cNvSpPr>
          <p:nvPr/>
        </p:nvSpPr>
        <p:spPr>
          <a:xfrm>
            <a:off x="514350" y="63436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55555"/>
                </a:solidFill>
              </a:defRPr>
            </a:pPr>
            <a:r>
              <a:rPr sz="1050" b="0" dirty="0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45746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9FE558C-D173-4227-AB9D-BABD4B2ED650}"/>
              </a:ext>
            </a:extLst>
          </p:cNvPr>
          <p:cNvSpPr>
            <a:spLocks noGrp="1"/>
          </p:cNvSpPr>
          <p:nvPr/>
        </p:nvSpPr>
        <p:spPr>
          <a:xfrm>
            <a:off x="514350" y="34290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SKIN CANCER DETECTION + XAI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EE1C1AD-585F-4882-81F8-E3E73BA49730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8763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Preprocessing and augmentation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E8C320-85C3-4CA3-BC35-85E4A47A98E8}"/>
              </a:ext>
            </a:extLst>
          </p:cNvPr>
          <p:cNvSpPr>
            <a:spLocks noGrp="1"/>
          </p:cNvSpPr>
          <p:nvPr/>
        </p:nvSpPr>
        <p:spPr>
          <a:xfrm>
            <a:off x="514350" y="1562100"/>
            <a:ext cx="11163300" cy="14288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rcRect l="12500" r="12500"/>
          <a:stretch>
            <a:fillRect/>
          </a:stretch>
        </p:blipFill>
        <p:spPr>
          <a:xfrm>
            <a:off x="685800" y="2038350"/>
            <a:ext cx="3333750" cy="33337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FCEFD16-5386-44CD-A60B-69D4F329E46E}"/>
              </a:ext>
            </a:extLst>
          </p:cNvPr>
          <p:cNvSpPr>
            <a:spLocks noGrp="1"/>
          </p:cNvSpPr>
          <p:nvPr/>
        </p:nvSpPr>
        <p:spPr>
          <a:xfrm>
            <a:off x="4629150" y="2019300"/>
            <a:ext cx="5905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Training images are transformed to improve robustness.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97A2D9-706B-4F46-B695-2EE9136C3793}"/>
              </a:ext>
            </a:extLst>
          </p:cNvPr>
          <p:cNvSpPr>
            <a:spLocks noGrp="1"/>
          </p:cNvSpPr>
          <p:nvPr/>
        </p:nvSpPr>
        <p:spPr>
          <a:xfrm>
            <a:off x="4895850" y="2970471"/>
            <a:ext cx="619125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0">
                <a:solidFill>
                  <a:srgbClr val="111111"/>
                </a:solidFill>
              </a:defRPr>
            </a:pPr>
            <a:r>
              <a:rPr sz="1725" b="0" dirty="0">
                <a:solidFill>
                  <a:srgbClr val="111111"/>
                </a:solidFill>
              </a:rPr>
              <a:t>- Resize every image to 224 x 224 pixels.</a:t>
            </a:r>
          </a:p>
          <a:p>
            <a:pPr algn="l">
              <a:defRPr sz="1725" b="0">
                <a:solidFill>
                  <a:srgbClr val="111111"/>
                </a:solidFill>
              </a:defRPr>
            </a:pPr>
            <a:r>
              <a:rPr sz="1725" b="0" dirty="0">
                <a:solidFill>
                  <a:srgbClr val="111111"/>
                </a:solidFill>
              </a:rPr>
              <a:t>- Normalize with ImageNet mean and standard deviation.</a:t>
            </a:r>
          </a:p>
          <a:p>
            <a:pPr algn="l">
              <a:defRPr sz="1725" b="0">
                <a:solidFill>
                  <a:srgbClr val="111111"/>
                </a:solidFill>
              </a:defRPr>
            </a:pPr>
            <a:r>
              <a:rPr sz="1725" b="0" dirty="0">
                <a:solidFill>
                  <a:srgbClr val="111111"/>
                </a:solidFill>
              </a:rPr>
              <a:t>- Apply random flips, rotations, and color jitter only during training.</a:t>
            </a:r>
          </a:p>
          <a:p>
            <a:pPr algn="l">
              <a:defRPr sz="1725" b="0">
                <a:solidFill>
                  <a:srgbClr val="111111"/>
                </a:solidFill>
              </a:defRPr>
            </a:pPr>
            <a:endParaRPr sz="1725" b="0" dirty="0">
              <a:solidFill>
                <a:srgbClr val="11111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58F5D7-CC6D-43C9-9AE6-2DC229CAC3FC}"/>
              </a:ext>
            </a:extLst>
          </p:cNvPr>
          <p:cNvSpPr>
            <a:spLocks noGrp="1"/>
          </p:cNvSpPr>
          <p:nvPr/>
        </p:nvSpPr>
        <p:spPr>
          <a:xfrm>
            <a:off x="514350" y="63436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HAM10000 Deep Learning Project | 05</a:t>
            </a:r>
          </a:p>
        </p:txBody>
      </p:sp>
    </p:spTree>
    <p:extLst>
      <p:ext uri="{BB962C8B-B14F-4D97-AF65-F5344CB8AC3E}">
        <p14:creationId xmlns:p14="http://schemas.microsoft.com/office/powerpoint/2010/main" val="1445970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C6139E3-57EC-4076-97B3-5F56B081B8A9}"/>
              </a:ext>
            </a:extLst>
          </p:cNvPr>
          <p:cNvSpPr>
            <a:spLocks noGrp="1"/>
          </p:cNvSpPr>
          <p:nvPr/>
        </p:nvSpPr>
        <p:spPr>
          <a:xfrm>
            <a:off x="514350" y="34290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6B35"/>
                </a:solidFill>
              </a:defRPr>
            </a:pPr>
            <a:r>
              <a:rPr sz="1200" b="1" dirty="0">
                <a:solidFill>
                  <a:srgbClr val="FF6B35"/>
                </a:solidFill>
              </a:rPr>
              <a:t>SKIN CANCER DETECTION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9480F74-4E6C-46BD-9665-A8A8B4CC130E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8763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Model comparison design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486223-4B3D-42D6-AD2F-EEA3EA0691C2}"/>
              </a:ext>
            </a:extLst>
          </p:cNvPr>
          <p:cNvSpPr>
            <a:spLocks noGrp="1"/>
          </p:cNvSpPr>
          <p:nvPr/>
        </p:nvSpPr>
        <p:spPr>
          <a:xfrm>
            <a:off x="514350" y="1562100"/>
            <a:ext cx="11163300" cy="14288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14B99C-4A08-42EE-9D76-59CA8F5747B6}"/>
              </a:ext>
            </a:extLst>
          </p:cNvPr>
          <p:cNvSpPr>
            <a:spLocks noGrp="1"/>
          </p:cNvSpPr>
          <p:nvPr/>
        </p:nvSpPr>
        <p:spPr>
          <a:xfrm>
            <a:off x="685800" y="2190750"/>
            <a:ext cx="4762500" cy="238125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1B59F7-1FAB-4EE1-A459-60C1B5975CD8}"/>
              </a:ext>
            </a:extLst>
          </p:cNvPr>
          <p:cNvSpPr>
            <a:spLocks noGrp="1"/>
          </p:cNvSpPr>
          <p:nvPr/>
        </p:nvSpPr>
        <p:spPr>
          <a:xfrm>
            <a:off x="990600" y="2533650"/>
            <a:ext cx="400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EfficientNet-B0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EAEC6F-7001-4051-BC6F-DC8A94EDA7FD}"/>
              </a:ext>
            </a:extLst>
          </p:cNvPr>
          <p:cNvSpPr>
            <a:spLocks noGrp="1"/>
          </p:cNvSpPr>
          <p:nvPr/>
        </p:nvSpPr>
        <p:spPr>
          <a:xfrm>
            <a:off x="1028700" y="3162300"/>
            <a:ext cx="42481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 dirty="0">
                <a:solidFill>
                  <a:srgbClr val="111111"/>
                </a:solidFill>
              </a:rPr>
              <a:t>- CNN </a:t>
            </a:r>
            <a:r>
              <a:rPr lang="en-IN" sz="1575" b="0" dirty="0">
                <a:solidFill>
                  <a:srgbClr val="111111"/>
                </a:solidFill>
              </a:rPr>
              <a:t>architecture</a:t>
            </a:r>
            <a:endParaRPr sz="1575" b="0" dirty="0">
              <a:solidFill>
                <a:srgbClr val="111111"/>
              </a:solidFill>
            </a:endParaRPr>
          </a:p>
          <a:p>
            <a:pPr>
              <a:defRPr sz="1575" b="0">
                <a:solidFill>
                  <a:srgbClr val="111111"/>
                </a:solidFill>
              </a:defRPr>
            </a:pPr>
            <a:r>
              <a:rPr sz="1575" b="0" dirty="0">
                <a:solidFill>
                  <a:srgbClr val="111111"/>
                </a:solidFill>
              </a:rPr>
              <a:t>- </a:t>
            </a:r>
            <a:r>
              <a:rPr lang="en-IN" sz="1575" dirty="0"/>
              <a:t>Extracts </a:t>
            </a:r>
            <a:r>
              <a:rPr lang="en-IN" sz="1575" b="1" dirty="0"/>
              <a:t>local features</a:t>
            </a:r>
            <a:r>
              <a:rPr lang="en-IN" sz="1575" dirty="0"/>
              <a:t> using convolutional filters</a:t>
            </a:r>
            <a:endParaRPr sz="1575" b="0" dirty="0">
              <a:solidFill>
                <a:srgbClr val="111111"/>
              </a:solidFill>
            </a:endParaRPr>
          </a:p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 dirty="0">
                <a:solidFill>
                  <a:srgbClr val="111111"/>
                </a:solidFill>
              </a:rPr>
              <a:t>- Pretrained on ImageNet</a:t>
            </a:r>
          </a:p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 dirty="0">
                <a:solidFill>
                  <a:srgbClr val="111111"/>
                </a:solidFill>
              </a:rPr>
              <a:t>- Best practical choice for CPU demo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64ECE4-0FF6-40BA-97E1-E84172F952BF}"/>
              </a:ext>
            </a:extLst>
          </p:cNvPr>
          <p:cNvSpPr>
            <a:spLocks noGrp="1"/>
          </p:cNvSpPr>
          <p:nvPr/>
        </p:nvSpPr>
        <p:spPr>
          <a:xfrm>
            <a:off x="6743700" y="2190750"/>
            <a:ext cx="4762500" cy="238125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B350F3-8BDA-4BB9-8775-0A9271A1F2E4}"/>
              </a:ext>
            </a:extLst>
          </p:cNvPr>
          <p:cNvSpPr>
            <a:spLocks noGrp="1"/>
          </p:cNvSpPr>
          <p:nvPr/>
        </p:nvSpPr>
        <p:spPr>
          <a:xfrm>
            <a:off x="7048500" y="2533650"/>
            <a:ext cx="4000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Vision Transformer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30D1DE-75F0-4985-BE82-58D43EE7D0F3}"/>
              </a:ext>
            </a:extLst>
          </p:cNvPr>
          <p:cNvSpPr>
            <a:spLocks noGrp="1"/>
          </p:cNvSpPr>
          <p:nvPr/>
        </p:nvSpPr>
        <p:spPr>
          <a:xfrm>
            <a:off x="7086600" y="3162300"/>
            <a:ext cx="39052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 dirty="0">
                <a:solidFill>
                  <a:srgbClr val="111111"/>
                </a:solidFill>
              </a:rPr>
              <a:t>- </a:t>
            </a:r>
            <a:r>
              <a:rPr lang="en-IN" sz="1575" dirty="0" err="1">
                <a:solidFill>
                  <a:srgbClr val="111111"/>
                </a:solidFill>
              </a:rPr>
              <a:t>Tranformer</a:t>
            </a:r>
            <a:r>
              <a:rPr lang="en-IN" sz="1575" dirty="0">
                <a:solidFill>
                  <a:srgbClr val="111111"/>
                </a:solidFill>
              </a:rPr>
              <a:t> based architecture</a:t>
            </a:r>
            <a:endParaRPr sz="1575" b="0" dirty="0">
              <a:solidFill>
                <a:srgbClr val="111111"/>
              </a:solidFill>
            </a:endParaRPr>
          </a:p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 dirty="0">
                <a:solidFill>
                  <a:srgbClr val="111111"/>
                </a:solidFill>
              </a:rPr>
              <a:t>- Learns global image relationships</a:t>
            </a:r>
          </a:p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 dirty="0">
                <a:solidFill>
                  <a:srgbClr val="111111"/>
                </a:solidFill>
              </a:rPr>
              <a:t>- Useful comparison against CNNs</a:t>
            </a:r>
          </a:p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 dirty="0">
                <a:solidFill>
                  <a:srgbClr val="111111"/>
                </a:solidFill>
              </a:rPr>
              <a:t>- Usually slower on CPU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DBC795-E8ED-4DDB-AA64-8C363C69E9C8}"/>
              </a:ext>
            </a:extLst>
          </p:cNvPr>
          <p:cNvSpPr>
            <a:spLocks noGrp="1"/>
          </p:cNvSpPr>
          <p:nvPr/>
        </p:nvSpPr>
        <p:spPr>
          <a:xfrm>
            <a:off x="514350" y="63436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55555"/>
                </a:solidFill>
              </a:defRPr>
            </a:pPr>
            <a:r>
              <a:rPr sz="1050" b="0" dirty="0">
                <a:solidFill>
                  <a:srgbClr val="555555"/>
                </a:solidFill>
              </a:rPr>
              <a:t>0</a:t>
            </a:r>
            <a:r>
              <a:rPr lang="en-IN" sz="1050" b="0" dirty="0">
                <a:solidFill>
                  <a:srgbClr val="555555"/>
                </a:solidFill>
              </a:rPr>
              <a:t>5</a:t>
            </a:r>
            <a:endParaRPr sz="1050" b="0" dirty="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4189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2D6889B-F856-4513-83E6-E02D303C7794}"/>
              </a:ext>
            </a:extLst>
          </p:cNvPr>
          <p:cNvSpPr>
            <a:spLocks noGrp="1"/>
          </p:cNvSpPr>
          <p:nvPr/>
        </p:nvSpPr>
        <p:spPr>
          <a:xfrm>
            <a:off x="514350" y="34290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SKIN CANCER DETECTION + XAI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F83DB9-4AB4-4700-AB57-6F771C0EDA60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8763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Training setup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1D1279-3A56-497D-B818-A891B5B223FB}"/>
              </a:ext>
            </a:extLst>
          </p:cNvPr>
          <p:cNvSpPr>
            <a:spLocks noGrp="1"/>
          </p:cNvSpPr>
          <p:nvPr/>
        </p:nvSpPr>
        <p:spPr>
          <a:xfrm>
            <a:off x="514350" y="1562100"/>
            <a:ext cx="11163300" cy="14288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7F655D-7106-4336-A202-B21E6F653AF7}"/>
              </a:ext>
            </a:extLst>
          </p:cNvPr>
          <p:cNvSpPr>
            <a:spLocks noGrp="1"/>
          </p:cNvSpPr>
          <p:nvPr/>
        </p:nvSpPr>
        <p:spPr>
          <a:xfrm>
            <a:off x="876300" y="2095500"/>
            <a:ext cx="2381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750" b="1">
                <a:solidFill>
                  <a:srgbClr val="111111"/>
                </a:solidFill>
              </a:defRPr>
            </a:pPr>
            <a:r>
              <a:rPr sz="3750" b="1">
                <a:solidFill>
                  <a:srgbClr val="111111"/>
                </a:solidFill>
              </a:rPr>
              <a:t>224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AD58EA-A29B-4A54-8105-095FCC15387B}"/>
              </a:ext>
            </a:extLst>
          </p:cNvPr>
          <p:cNvSpPr>
            <a:spLocks noGrp="1"/>
          </p:cNvSpPr>
          <p:nvPr/>
        </p:nvSpPr>
        <p:spPr>
          <a:xfrm>
            <a:off x="876300" y="27432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Image size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598265-8966-4555-95C6-9BB8F719E80F}"/>
              </a:ext>
            </a:extLst>
          </p:cNvPr>
          <p:cNvSpPr>
            <a:spLocks noGrp="1"/>
          </p:cNvSpPr>
          <p:nvPr/>
        </p:nvSpPr>
        <p:spPr>
          <a:xfrm>
            <a:off x="3295650" y="2095500"/>
            <a:ext cx="2381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750" b="1">
                <a:solidFill>
                  <a:srgbClr val="111111"/>
                </a:solidFill>
              </a:defRPr>
            </a:pPr>
            <a:r>
              <a:rPr sz="3750" b="1">
                <a:solidFill>
                  <a:srgbClr val="111111"/>
                </a:solidFill>
              </a:rPr>
              <a:t>32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8F44BE-AFC9-4283-91EC-96BB9A29111B}"/>
              </a:ext>
            </a:extLst>
          </p:cNvPr>
          <p:cNvSpPr>
            <a:spLocks noGrp="1"/>
          </p:cNvSpPr>
          <p:nvPr/>
        </p:nvSpPr>
        <p:spPr>
          <a:xfrm>
            <a:off x="3295650" y="27432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Batch size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47C931-DBAA-4E37-B43B-34ECC131E5C2}"/>
              </a:ext>
            </a:extLst>
          </p:cNvPr>
          <p:cNvSpPr>
            <a:spLocks noGrp="1"/>
          </p:cNvSpPr>
          <p:nvPr/>
        </p:nvSpPr>
        <p:spPr>
          <a:xfrm>
            <a:off x="5715000" y="2095500"/>
            <a:ext cx="2381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750" b="1">
                <a:solidFill>
                  <a:srgbClr val="111111"/>
                </a:solidFill>
              </a:defRPr>
            </a:pPr>
            <a:r>
              <a:rPr sz="3750" b="1">
                <a:solidFill>
                  <a:srgbClr val="111111"/>
                </a:solidFill>
              </a:rPr>
              <a:t>15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AD6056-FFAC-4A44-9D7B-4E0F0EDEA0DC}"/>
              </a:ext>
            </a:extLst>
          </p:cNvPr>
          <p:cNvSpPr>
            <a:spLocks noGrp="1"/>
          </p:cNvSpPr>
          <p:nvPr/>
        </p:nvSpPr>
        <p:spPr>
          <a:xfrm>
            <a:off x="5715000" y="27432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Epochs configured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501937-4B96-44ED-94D6-CE762D9FB21A}"/>
              </a:ext>
            </a:extLst>
          </p:cNvPr>
          <p:cNvSpPr>
            <a:spLocks noGrp="1"/>
          </p:cNvSpPr>
          <p:nvPr/>
        </p:nvSpPr>
        <p:spPr>
          <a:xfrm>
            <a:off x="8515350" y="2095500"/>
            <a:ext cx="2381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750" b="1">
                <a:solidFill>
                  <a:srgbClr val="111111"/>
                </a:solidFill>
              </a:defRPr>
            </a:pPr>
            <a:r>
              <a:rPr sz="3750" b="1">
                <a:solidFill>
                  <a:srgbClr val="111111"/>
                </a:solidFill>
              </a:rPr>
              <a:t>7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FECA12-89F8-4C74-91F4-83F2169C7752}"/>
              </a:ext>
            </a:extLst>
          </p:cNvPr>
          <p:cNvSpPr>
            <a:spLocks noGrp="1"/>
          </p:cNvSpPr>
          <p:nvPr/>
        </p:nvSpPr>
        <p:spPr>
          <a:xfrm>
            <a:off x="8515350" y="274320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Classes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BAC284-60EA-4CBA-95DF-D22B4EFBB864}"/>
              </a:ext>
            </a:extLst>
          </p:cNvPr>
          <p:cNvSpPr>
            <a:spLocks noGrp="1"/>
          </p:cNvSpPr>
          <p:nvPr/>
        </p:nvSpPr>
        <p:spPr>
          <a:xfrm>
            <a:off x="819150" y="4171950"/>
            <a:ext cx="9239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025" b="1">
                <a:solidFill>
                  <a:srgbClr val="111111"/>
                </a:solidFill>
              </a:defRPr>
            </a:pPr>
            <a:r>
              <a:rPr sz="2025" b="1">
                <a:solidFill>
                  <a:srgbClr val="111111"/>
                </a:solidFill>
              </a:rPr>
              <a:t>Training used weighted sampling and weighted cross-entropy to handle the class imbalance visible in HAM10000.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D0A127-2AA5-40FE-87FC-F61417D39440}"/>
              </a:ext>
            </a:extLst>
          </p:cNvPr>
          <p:cNvSpPr>
            <a:spLocks noGrp="1"/>
          </p:cNvSpPr>
          <p:nvPr/>
        </p:nvSpPr>
        <p:spPr>
          <a:xfrm>
            <a:off x="1028700" y="5010150"/>
            <a:ext cx="8382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- AdamW optimizer</a:t>
            </a:r>
          </a:p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- Cosine learning-rate schedule</a:t>
            </a:r>
          </a:p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- Early stopping</a:t>
            </a:r>
          </a:p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- Best checkpoint saved by validation F1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B28326-8211-4488-BBD1-EC3CDB0136EC}"/>
              </a:ext>
            </a:extLst>
          </p:cNvPr>
          <p:cNvSpPr>
            <a:spLocks noGrp="1"/>
          </p:cNvSpPr>
          <p:nvPr/>
        </p:nvSpPr>
        <p:spPr>
          <a:xfrm>
            <a:off x="514350" y="63436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HAM10000 Deep Learning Project | 07</a:t>
            </a:r>
          </a:p>
        </p:txBody>
      </p:sp>
    </p:spTree>
    <p:extLst>
      <p:ext uri="{BB962C8B-B14F-4D97-AF65-F5344CB8AC3E}">
        <p14:creationId xmlns:p14="http://schemas.microsoft.com/office/powerpoint/2010/main" val="91267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79B937F-CBD2-479C-9BEE-B71B26CB39DC}"/>
              </a:ext>
            </a:extLst>
          </p:cNvPr>
          <p:cNvSpPr>
            <a:spLocks noGrp="1"/>
          </p:cNvSpPr>
          <p:nvPr/>
        </p:nvSpPr>
        <p:spPr>
          <a:xfrm>
            <a:off x="514350" y="34290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SKIN CANCER DETECTION + XAI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8EBBC4-26D5-484D-AA82-EC03AF87266E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8763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EfficientNet training progress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5129F6-BE99-4EC3-90B9-74227BB1275D}"/>
              </a:ext>
            </a:extLst>
          </p:cNvPr>
          <p:cNvSpPr>
            <a:spLocks noGrp="1"/>
          </p:cNvSpPr>
          <p:nvPr/>
        </p:nvSpPr>
        <p:spPr>
          <a:xfrm>
            <a:off x="514350" y="1562100"/>
            <a:ext cx="11163300" cy="14288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13" name="Chart"/>
          <p:cNvGraphicFramePr/>
          <p:nvPr/>
        </p:nvGraphicFramePr>
        <p:xfrm>
          <a:off x="762000" y="2076450"/>
          <a:ext cx="72390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C266ED8C-0E40-4431-B3BC-7079DCD9D459}"/>
              </a:ext>
            </a:extLst>
          </p:cNvPr>
          <p:cNvSpPr>
            <a:spLocks noGrp="1"/>
          </p:cNvSpPr>
          <p:nvPr/>
        </p:nvSpPr>
        <p:spPr>
          <a:xfrm>
            <a:off x="8572500" y="2343150"/>
            <a:ext cx="2476500" cy="20955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2D0CFD-4D6D-4184-90F9-048A1941F587}"/>
              </a:ext>
            </a:extLst>
          </p:cNvPr>
          <p:cNvSpPr>
            <a:spLocks noGrp="1"/>
          </p:cNvSpPr>
          <p:nvPr/>
        </p:nvSpPr>
        <p:spPr>
          <a:xfrm>
            <a:off x="8858250" y="2647950"/>
            <a:ext cx="2000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Best checkpoint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708027-DA4A-4EE8-9CBE-B00930B88CAD}"/>
              </a:ext>
            </a:extLst>
          </p:cNvPr>
          <p:cNvSpPr>
            <a:spLocks noGrp="1"/>
          </p:cNvSpPr>
          <p:nvPr/>
        </p:nvSpPr>
        <p:spPr>
          <a:xfrm>
            <a:off x="8858250" y="3105150"/>
            <a:ext cx="200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FF6B35"/>
                </a:solidFill>
              </a:defRPr>
            </a:pPr>
            <a:r>
              <a:rPr sz="3150" b="1">
                <a:solidFill>
                  <a:srgbClr val="FF6B35"/>
                </a:solidFill>
              </a:rPr>
              <a:t>Epoch 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5E02B80-DF68-4C0C-933D-45720C2647FE}"/>
              </a:ext>
            </a:extLst>
          </p:cNvPr>
          <p:cNvSpPr>
            <a:spLocks noGrp="1"/>
          </p:cNvSpPr>
          <p:nvPr/>
        </p:nvSpPr>
        <p:spPr>
          <a:xfrm>
            <a:off x="8858250" y="373380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Saved as checkpoints/best_efficientnet.pt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3C3DD0-F025-4562-9F87-06DAE5DD284F}"/>
              </a:ext>
            </a:extLst>
          </p:cNvPr>
          <p:cNvSpPr>
            <a:spLocks noGrp="1"/>
          </p:cNvSpPr>
          <p:nvPr/>
        </p:nvSpPr>
        <p:spPr>
          <a:xfrm>
            <a:off x="514350" y="63436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HAM10000 Deep Learning Project | 08</a:t>
            </a:r>
          </a:p>
        </p:txBody>
      </p:sp>
    </p:spTree>
    <p:extLst>
      <p:ext uri="{BB962C8B-B14F-4D97-AF65-F5344CB8AC3E}">
        <p14:creationId xmlns:p14="http://schemas.microsoft.com/office/powerpoint/2010/main" val="875503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37597D7-1CBA-4B61-A029-446B2824CD25}"/>
              </a:ext>
            </a:extLst>
          </p:cNvPr>
          <p:cNvSpPr>
            <a:spLocks noGrp="1"/>
          </p:cNvSpPr>
          <p:nvPr/>
        </p:nvSpPr>
        <p:spPr>
          <a:xfrm>
            <a:off x="514350" y="34290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SKIN CANCER DETECTION + XAI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AD1864-0BA2-4499-9676-F88E027390B9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8763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Evaluation results: EfficientNet checkpoint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694688-B9CF-4676-B47B-4A6C6C43492D}"/>
              </a:ext>
            </a:extLst>
          </p:cNvPr>
          <p:cNvSpPr>
            <a:spLocks noGrp="1"/>
          </p:cNvSpPr>
          <p:nvPr/>
        </p:nvSpPr>
        <p:spPr>
          <a:xfrm>
            <a:off x="514350" y="1562100"/>
            <a:ext cx="11163300" cy="14288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11" name="Chart"/>
          <p:cNvGraphicFramePr/>
          <p:nvPr/>
        </p:nvGraphicFramePr>
        <p:xfrm>
          <a:off x="781050" y="2133600"/>
          <a:ext cx="6858000" cy="3333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85591F5C-E649-42E0-BF81-520A443F7860}"/>
              </a:ext>
            </a:extLst>
          </p:cNvPr>
          <p:cNvSpPr>
            <a:spLocks noGrp="1"/>
          </p:cNvSpPr>
          <p:nvPr/>
        </p:nvSpPr>
        <p:spPr>
          <a:xfrm>
            <a:off x="8191500" y="224790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Result interpretation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4290A0-F8BF-4795-87AA-6B8F0576238C}"/>
              </a:ext>
            </a:extLst>
          </p:cNvPr>
          <p:cNvSpPr>
            <a:spLocks noGrp="1"/>
          </p:cNvSpPr>
          <p:nvPr/>
        </p:nvSpPr>
        <p:spPr>
          <a:xfrm>
            <a:off x="8210550" y="2781300"/>
            <a:ext cx="31432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- ROC-AUC is strong, showing useful class separation.</a:t>
            </a:r>
          </a:p>
          <a:p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- Accuracy and F1 are limited because training ran on CPU and stopped early.</a:t>
            </a:r>
          </a:p>
          <a:p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- Recall is high, but precision needs improvement with longer training and tuning.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86DC14-CE80-4553-A57A-186FF8046BED}"/>
              </a:ext>
            </a:extLst>
          </p:cNvPr>
          <p:cNvSpPr>
            <a:spLocks noGrp="1"/>
          </p:cNvSpPr>
          <p:nvPr/>
        </p:nvSpPr>
        <p:spPr>
          <a:xfrm>
            <a:off x="514350" y="63436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HAM10000 Deep Learning Project | 09</a:t>
            </a:r>
          </a:p>
        </p:txBody>
      </p:sp>
    </p:spTree>
    <p:extLst>
      <p:ext uri="{BB962C8B-B14F-4D97-AF65-F5344CB8AC3E}">
        <p14:creationId xmlns:p14="http://schemas.microsoft.com/office/powerpoint/2010/main" val="1162799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93479B3-CCFD-428C-8E2F-E8DED2853E3F}"/>
              </a:ext>
            </a:extLst>
          </p:cNvPr>
          <p:cNvSpPr>
            <a:spLocks noGrp="1"/>
          </p:cNvSpPr>
          <p:nvPr/>
        </p:nvSpPr>
        <p:spPr>
          <a:xfrm>
            <a:off x="514350" y="34290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SKIN CANCER DETECTION + XAI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4782FE-DE95-409F-8D10-6B540320A775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8763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Confusion matrix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FA9519-6112-4A21-9C0A-639940265867}"/>
              </a:ext>
            </a:extLst>
          </p:cNvPr>
          <p:cNvSpPr>
            <a:spLocks noGrp="1"/>
          </p:cNvSpPr>
          <p:nvPr/>
        </p:nvSpPr>
        <p:spPr>
          <a:xfrm>
            <a:off x="514350" y="1562100"/>
            <a:ext cx="11163300" cy="14288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rcRect t="638" b="638"/>
          <a:stretch>
            <a:fillRect/>
          </a:stretch>
        </p:blipFill>
        <p:spPr>
          <a:xfrm>
            <a:off x="876300" y="1866900"/>
            <a:ext cx="5334000" cy="40957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0A7D7A4-3C6B-4636-BA2D-1615E9560B9B}"/>
              </a:ext>
            </a:extLst>
          </p:cNvPr>
          <p:cNvSpPr>
            <a:spLocks noGrp="1"/>
          </p:cNvSpPr>
          <p:nvPr/>
        </p:nvSpPr>
        <p:spPr>
          <a:xfrm>
            <a:off x="6896100" y="2114550"/>
            <a:ext cx="3429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Why this matters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73D2C3-CADF-43F8-987E-5EF93D848714}"/>
              </a:ext>
            </a:extLst>
          </p:cNvPr>
          <p:cNvSpPr>
            <a:spLocks noGrp="1"/>
          </p:cNvSpPr>
          <p:nvPr/>
        </p:nvSpPr>
        <p:spPr>
          <a:xfrm>
            <a:off x="6934200" y="2838450"/>
            <a:ext cx="4836042" cy="140560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 dirty="0">
                <a:solidFill>
                  <a:srgbClr val="111111"/>
                </a:solidFill>
              </a:rPr>
              <a:t>- Shows which classes are confused with each other.</a:t>
            </a:r>
          </a:p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 dirty="0">
                <a:solidFill>
                  <a:srgbClr val="111111"/>
                </a:solidFill>
              </a:rPr>
              <a:t>- More informative than accuracy for imbalanced medical data.</a:t>
            </a:r>
          </a:p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 dirty="0">
                <a:solidFill>
                  <a:srgbClr val="111111"/>
                </a:solidFill>
              </a:rPr>
              <a:t>- Helps identify classes that need more samples or stronger augmentation.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25B1B1-BD7C-4B14-A77D-A8FBAF876B57}"/>
              </a:ext>
            </a:extLst>
          </p:cNvPr>
          <p:cNvSpPr>
            <a:spLocks noGrp="1"/>
          </p:cNvSpPr>
          <p:nvPr/>
        </p:nvSpPr>
        <p:spPr>
          <a:xfrm>
            <a:off x="514350" y="63436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HAM10000 Deep Learning Project | 10</a:t>
            </a:r>
          </a:p>
        </p:txBody>
      </p:sp>
    </p:spTree>
    <p:extLst>
      <p:ext uri="{BB962C8B-B14F-4D97-AF65-F5344CB8AC3E}">
        <p14:creationId xmlns:p14="http://schemas.microsoft.com/office/powerpoint/2010/main" val="1142768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331C365-DDC1-4337-A7EF-A9744CA568FF}"/>
              </a:ext>
            </a:extLst>
          </p:cNvPr>
          <p:cNvSpPr>
            <a:spLocks noGrp="1"/>
          </p:cNvSpPr>
          <p:nvPr/>
        </p:nvSpPr>
        <p:spPr>
          <a:xfrm>
            <a:off x="514350" y="34290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6B35"/>
                </a:solidFill>
              </a:defRPr>
            </a:pPr>
            <a:r>
              <a:rPr sz="1200" b="1" dirty="0">
                <a:solidFill>
                  <a:srgbClr val="FF6B35"/>
                </a:solidFill>
              </a:rPr>
              <a:t>SKIN CANCER DETECTION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7E40A2-A2F5-4617-A9DA-9246C2FCD8D7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8763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Explainability and web app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A3DA86-60A5-448A-81B8-C32D3E5CF944}"/>
              </a:ext>
            </a:extLst>
          </p:cNvPr>
          <p:cNvSpPr>
            <a:spLocks noGrp="1"/>
          </p:cNvSpPr>
          <p:nvPr/>
        </p:nvSpPr>
        <p:spPr>
          <a:xfrm>
            <a:off x="514350" y="1562100"/>
            <a:ext cx="11163300" cy="14288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rcRect l="12500" r="12500"/>
          <a:stretch>
            <a:fillRect/>
          </a:stretch>
        </p:blipFill>
        <p:spPr>
          <a:xfrm>
            <a:off x="819150" y="2038350"/>
            <a:ext cx="3143250" cy="314325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5B3EDFF-0D7F-494C-A45A-B998D13EC3B1}"/>
              </a:ext>
            </a:extLst>
          </p:cNvPr>
          <p:cNvSpPr>
            <a:spLocks noGrp="1"/>
          </p:cNvSpPr>
          <p:nvPr/>
        </p:nvSpPr>
        <p:spPr>
          <a:xfrm>
            <a:off x="4629150" y="2038350"/>
            <a:ext cx="3143250" cy="3143250"/>
          </a:xfrm>
          <a:prstGeom prst="rect">
            <a:avLst/>
          </a:prstGeom>
          <a:solidFill>
            <a:srgbClr val="F6F6F6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6440DF-6992-468E-BD73-3BBCFA456768}"/>
              </a:ext>
            </a:extLst>
          </p:cNvPr>
          <p:cNvSpPr>
            <a:spLocks noGrp="1"/>
          </p:cNvSpPr>
          <p:nvPr/>
        </p:nvSpPr>
        <p:spPr>
          <a:xfrm>
            <a:off x="5067300" y="2914650"/>
            <a:ext cx="228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Grad-CAM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E32723-8198-4BF9-BD0B-97D341041A66}"/>
              </a:ext>
            </a:extLst>
          </p:cNvPr>
          <p:cNvSpPr>
            <a:spLocks noGrp="1"/>
          </p:cNvSpPr>
          <p:nvPr/>
        </p:nvSpPr>
        <p:spPr>
          <a:xfrm>
            <a:off x="5067300" y="333375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025" b="1">
                <a:solidFill>
                  <a:srgbClr val="FF6B35"/>
                </a:solidFill>
              </a:defRPr>
            </a:pPr>
            <a:r>
              <a:rPr sz="2025" b="1">
                <a:solidFill>
                  <a:srgbClr val="FF6B35"/>
                </a:solidFill>
              </a:rPr>
              <a:t>heatmap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7A840D-0F3D-49E1-9E65-748CF75D259C}"/>
              </a:ext>
            </a:extLst>
          </p:cNvPr>
          <p:cNvSpPr>
            <a:spLocks noGrp="1"/>
          </p:cNvSpPr>
          <p:nvPr/>
        </p:nvSpPr>
        <p:spPr>
          <a:xfrm>
            <a:off x="5067300" y="38862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Generated at inference time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CE2D12-F338-4A03-BED7-0CBAAAB6AAE2}"/>
              </a:ext>
            </a:extLst>
          </p:cNvPr>
          <p:cNvSpPr>
            <a:spLocks noGrp="1"/>
          </p:cNvSpPr>
          <p:nvPr/>
        </p:nvSpPr>
        <p:spPr>
          <a:xfrm>
            <a:off x="8382000" y="2133600"/>
            <a:ext cx="2857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Streamlit app output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DD0E04-DC5A-46D9-A25E-8CFF5272802E}"/>
              </a:ext>
            </a:extLst>
          </p:cNvPr>
          <p:cNvSpPr>
            <a:spLocks noGrp="1"/>
          </p:cNvSpPr>
          <p:nvPr/>
        </p:nvSpPr>
        <p:spPr>
          <a:xfrm>
            <a:off x="8515350" y="2781300"/>
            <a:ext cx="2857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- Upload lesion image</a:t>
            </a:r>
          </a:p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- View predicted class</a:t>
            </a:r>
          </a:p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- View confidence score</a:t>
            </a:r>
          </a:p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- Inspect Grad-CAM overlay</a:t>
            </a:r>
          </a:p>
          <a:p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- Read short explanation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A819B5C-D39B-4B47-8750-35800B3B19C7}"/>
              </a:ext>
            </a:extLst>
          </p:cNvPr>
          <p:cNvSpPr>
            <a:spLocks noGrp="1"/>
          </p:cNvSpPr>
          <p:nvPr/>
        </p:nvSpPr>
        <p:spPr>
          <a:xfrm>
            <a:off x="514350" y="63436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55555"/>
                </a:solidFill>
              </a:defRPr>
            </a:pPr>
            <a:r>
              <a:rPr lang="en-IN" sz="1050" dirty="0">
                <a:solidFill>
                  <a:srgbClr val="555555"/>
                </a:solidFill>
              </a:rPr>
              <a:t>O6</a:t>
            </a:r>
            <a:endParaRPr sz="1050" b="0" dirty="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891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5FA93EB-76CD-4788-BD53-BE8B9B1F119F}"/>
              </a:ext>
            </a:extLst>
          </p:cNvPr>
          <p:cNvSpPr>
            <a:spLocks noGrp="1"/>
          </p:cNvSpPr>
          <p:nvPr/>
        </p:nvSpPr>
        <p:spPr>
          <a:xfrm>
            <a:off x="514350" y="34290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FF6B35"/>
                </a:solidFill>
              </a:defRPr>
            </a:pPr>
            <a:r>
              <a:rPr sz="1200" b="1" dirty="0">
                <a:solidFill>
                  <a:srgbClr val="FF6B35"/>
                </a:solidFill>
              </a:rPr>
              <a:t>SKIN CANCER DETECTION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F1B9B0C-EB7D-4A38-BDC1-91AE0207C843}"/>
              </a:ext>
            </a:extLst>
          </p:cNvPr>
          <p:cNvSpPr>
            <a:spLocks noGrp="1"/>
          </p:cNvSpPr>
          <p:nvPr/>
        </p:nvSpPr>
        <p:spPr>
          <a:xfrm>
            <a:off x="514350" y="781050"/>
            <a:ext cx="8763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Limitations and next steps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AC3B50-7757-4DE6-A4A2-F7D62E388C96}"/>
              </a:ext>
            </a:extLst>
          </p:cNvPr>
          <p:cNvSpPr>
            <a:spLocks noGrp="1"/>
          </p:cNvSpPr>
          <p:nvPr/>
        </p:nvSpPr>
        <p:spPr>
          <a:xfrm>
            <a:off x="514350" y="1562100"/>
            <a:ext cx="11163300" cy="14288"/>
          </a:xfrm>
          <a:prstGeom prst="rect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F5966A-C904-4724-B469-EADA91B46F09}"/>
              </a:ext>
            </a:extLst>
          </p:cNvPr>
          <p:cNvSpPr>
            <a:spLocks noGrp="1"/>
          </p:cNvSpPr>
          <p:nvPr/>
        </p:nvSpPr>
        <p:spPr>
          <a:xfrm>
            <a:off x="742950" y="2171700"/>
            <a:ext cx="4762500" cy="2781300"/>
          </a:xfrm>
          <a:prstGeom prst="rect">
            <a:avLst/>
          </a:prstGeom>
          <a:solidFill>
            <a:srgbClr val="EDEDED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6FC2F4-20E3-40EB-9E84-71A3A4EFA7C1}"/>
              </a:ext>
            </a:extLst>
          </p:cNvPr>
          <p:cNvSpPr>
            <a:spLocks noGrp="1"/>
          </p:cNvSpPr>
          <p:nvPr/>
        </p:nvSpPr>
        <p:spPr>
          <a:xfrm>
            <a:off x="1028700" y="2495550"/>
            <a:ext cx="3619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Current limitations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7BC61C-7038-4B53-90AB-82CFE91B618B}"/>
              </a:ext>
            </a:extLst>
          </p:cNvPr>
          <p:cNvSpPr>
            <a:spLocks noGrp="1"/>
          </p:cNvSpPr>
          <p:nvPr/>
        </p:nvSpPr>
        <p:spPr>
          <a:xfrm>
            <a:off x="1066800" y="3067050"/>
            <a:ext cx="3810000" cy="1409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- Not a medical diagnostic device</a:t>
            </a:r>
          </a:p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- HAM10000 is class-imbalanced</a:t>
            </a:r>
          </a:p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- CPU training limits final accuracy</a:t>
            </a:r>
          </a:p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- Grad-CAM explains influence, not correctness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FC48345-B948-4BD9-AFA7-41EDC79390EA}"/>
              </a:ext>
            </a:extLst>
          </p:cNvPr>
          <p:cNvSpPr>
            <a:spLocks noGrp="1"/>
          </p:cNvSpPr>
          <p:nvPr/>
        </p:nvSpPr>
        <p:spPr>
          <a:xfrm>
            <a:off x="6705600" y="2171700"/>
            <a:ext cx="4762500" cy="2781300"/>
          </a:xfrm>
          <a:prstGeom prst="rect">
            <a:avLst/>
          </a:prstGeom>
          <a:solidFill>
            <a:srgbClr val="F7F7F7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7E6038-15D9-498F-9B31-AB1085EA11CE}"/>
              </a:ext>
            </a:extLst>
          </p:cNvPr>
          <p:cNvSpPr>
            <a:spLocks noGrp="1"/>
          </p:cNvSpPr>
          <p:nvPr/>
        </p:nvSpPr>
        <p:spPr>
          <a:xfrm>
            <a:off x="6991350" y="2495550"/>
            <a:ext cx="3905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Recommended improvements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8AA37E-2809-4C6D-80DF-0D44897ABA10}"/>
              </a:ext>
            </a:extLst>
          </p:cNvPr>
          <p:cNvSpPr>
            <a:spLocks noGrp="1"/>
          </p:cNvSpPr>
          <p:nvPr/>
        </p:nvSpPr>
        <p:spPr>
          <a:xfrm>
            <a:off x="7029450" y="3067050"/>
            <a:ext cx="3810000" cy="1409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- Train longer with GPU support</a:t>
            </a:r>
          </a:p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- Tune augmentation and class weights</a:t>
            </a:r>
          </a:p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- Complete ViT comparison</a:t>
            </a:r>
          </a:p>
          <a:p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- Add external validation data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03943F-144A-414E-9A90-0D54416AB3F3}"/>
              </a:ext>
            </a:extLst>
          </p:cNvPr>
          <p:cNvSpPr>
            <a:spLocks noGrp="1"/>
          </p:cNvSpPr>
          <p:nvPr/>
        </p:nvSpPr>
        <p:spPr>
          <a:xfrm>
            <a:off x="514350" y="63436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555555"/>
                </a:solidFill>
              </a:defRPr>
            </a:pPr>
            <a:r>
              <a:rPr lang="en-IN" sz="1050" b="0" dirty="0">
                <a:solidFill>
                  <a:srgbClr val="555555"/>
                </a:solidFill>
              </a:rPr>
              <a:t>07</a:t>
            </a:r>
            <a:endParaRPr sz="1050" b="0" dirty="0">
              <a:solidFill>
                <a:srgbClr val="5555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76586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24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07CD83E-0468-4CB5-9B14-30FB3A73909F}"/>
              </a:ext>
            </a:extLst>
          </p:cNvPr>
          <p:cNvSpPr>
            <a:spLocks noGrp="1"/>
          </p:cNvSpPr>
          <p:nvPr/>
        </p:nvSpPr>
        <p:spPr>
          <a:xfrm>
            <a:off x="762000" y="1619250"/>
            <a:ext cx="7239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5250" b="1">
                <a:solidFill>
                  <a:srgbClr val="FFFFFF"/>
                </a:solidFill>
              </a:defRPr>
            </a:pPr>
            <a:r>
              <a:rPr sz="525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60ACBC-376E-4D93-875D-EC3513848109}"/>
              </a:ext>
            </a:extLst>
          </p:cNvPr>
          <p:cNvSpPr>
            <a:spLocks noGrp="1"/>
          </p:cNvSpPr>
          <p:nvPr/>
        </p:nvSpPr>
        <p:spPr>
          <a:xfrm>
            <a:off x="800100" y="2686050"/>
            <a:ext cx="8477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100" b="0">
                <a:solidFill>
                  <a:srgbClr val="E8E8E8"/>
                </a:solidFill>
              </a:defRPr>
            </a:pPr>
            <a:r>
              <a:rPr sz="2100" b="0">
                <a:solidFill>
                  <a:srgbClr val="E8E8E8"/>
                </a:solidFill>
              </a:rPr>
              <a:t>Skin Cancer Detection Using Deep Learning and Explainable AI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C0D9C24-E86B-44FF-A597-D9BFDA6E5360}"/>
              </a:ext>
            </a:extLst>
          </p:cNvPr>
          <p:cNvSpPr>
            <a:spLocks noGrp="1"/>
          </p:cNvSpPr>
          <p:nvPr/>
        </p:nvSpPr>
        <p:spPr>
          <a:xfrm>
            <a:off x="819150" y="3905250"/>
            <a:ext cx="685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FF6B35"/>
                </a:solidFill>
              </a:defRPr>
            </a:pPr>
            <a:r>
              <a:rPr sz="1800" b="1" dirty="0">
                <a:solidFill>
                  <a:srgbClr val="FF6B35"/>
                </a:solidFill>
              </a:rPr>
              <a:t>Demo: </a:t>
            </a:r>
            <a:r>
              <a:rPr lang="en-IN" sz="1800" b="1" dirty="0">
                <a:solidFill>
                  <a:schemeClr val="bg2">
                    <a:lumMod val="9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Derma Vision AI</a:t>
            </a:r>
            <a:endParaRPr sz="1800" b="1" dirty="0">
              <a:solidFill>
                <a:schemeClr val="bg2">
                  <a:lumMod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706915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473</TotalTime>
  <Words>566</Words>
  <Application>Microsoft Office PowerPoint</Application>
  <DocSecurity>0</DocSecurity>
  <PresentationFormat>Widescreen</PresentationFormat>
  <Paragraphs>137</Paragraphs>
  <Slides>13</Slides>
  <Notes>13</Notes>
  <HiddenSlides>5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Manasa Marigoli</cp:lastModifiedBy>
  <cp:revision>4</cp:revision>
  <dcterms:created xsi:type="dcterms:W3CDTF">2026-06-30T22:55:39Z</dcterms:created>
  <dcterms:modified xsi:type="dcterms:W3CDTF">2026-07-03T12:03:20Z</dcterms:modified>
</cp:coreProperties>
</file>