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719a86f62b44e5" /><Relationship Type="http://schemas.openxmlformats.org/officeDocument/2006/relationships/extended-properties" Target="/docProps/app.xml" Id="R7e04e94c131a4ce4" /><Relationship Type="http://schemas.openxmlformats.org/officeDocument/2006/relationships/officeDocument" Target="/ppt/presentation.xml" Id="Raf3db17f34c24b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56f091b6b448e4"/>
  </p:sldMasterIdLst>
  <p:notesMasterIdLst>
    <p:notesMasterId xmlns:r="http://schemas.openxmlformats.org/officeDocument/2006/relationships" r:id="Rd636c4c046b34703"/>
  </p:notesMasterIdLst>
  <p:sldIdLst>
    <p:sldId xmlns:r="http://schemas.openxmlformats.org/officeDocument/2006/relationships" id="256" r:id="Rc1096bc7bc4f42c1"/>
    <p:sldId xmlns:r="http://schemas.openxmlformats.org/officeDocument/2006/relationships" id="257" r:id="Raa53ace9120d4b41"/>
    <p:sldId xmlns:r="http://schemas.openxmlformats.org/officeDocument/2006/relationships" id="258" r:id="Raf716b3ac23c4df3"/>
    <p:sldId xmlns:r="http://schemas.openxmlformats.org/officeDocument/2006/relationships" id="259" r:id="Rdfd33b84ae8f43ba"/>
    <p:sldId xmlns:r="http://schemas.openxmlformats.org/officeDocument/2006/relationships" id="260" r:id="R14bf8afb0360437d"/>
    <p:sldId xmlns:r="http://schemas.openxmlformats.org/officeDocument/2006/relationships" id="261" r:id="R9e6281273a7a43ea"/>
    <p:sldId xmlns:r="http://schemas.openxmlformats.org/officeDocument/2006/relationships" id="262" r:id="R3702a1d08aab4fbc"/>
    <p:sldId xmlns:r="http://schemas.openxmlformats.org/officeDocument/2006/relationships" id="263" r:id="R91f1ddaa6e2145e7"/>
    <p:sldId xmlns:r="http://schemas.openxmlformats.org/officeDocument/2006/relationships" id="264" r:id="Rf3a6ff04f9b84fec"/>
    <p:sldId xmlns:r="http://schemas.openxmlformats.org/officeDocument/2006/relationships" id="265" r:id="R133c314089114228"/>
    <p:sldId xmlns:r="http://schemas.openxmlformats.org/officeDocument/2006/relationships" id="266" r:id="R36acd3b093ce4d05"/>
    <p:sldId xmlns:r="http://schemas.openxmlformats.org/officeDocument/2006/relationships" id="267" r:id="R5a61a80d3e174e89"/>
    <p:sldId xmlns:r="http://schemas.openxmlformats.org/officeDocument/2006/relationships" id="268" r:id="Ra55776044a4f44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4a6a6fc3e44ba8" /><Relationship Type="http://schemas.openxmlformats.org/officeDocument/2006/relationships/slideMaster" Target="/ppt/slideMasters/slideMaster1.xml" Id="Rdb56f091b6b448e4" /><Relationship Type="http://schemas.openxmlformats.org/officeDocument/2006/relationships/notesMaster" Target="/ppt/notesMasters/notesMaster1.xml" Id="Rd636c4c046b34703" /><Relationship Type="http://schemas.openxmlformats.org/officeDocument/2006/relationships/presProps" Target="/ppt/presProps.xml" Id="Re70bd35725ea4036" /><Relationship Type="http://schemas.openxmlformats.org/officeDocument/2006/relationships/tableStyles" Target="/ppt/tableStyles.xml" Id="R1245d7af1ba3409a" /><Relationship Type="http://schemas.openxmlformats.org/officeDocument/2006/relationships/slide" Target="/ppt/slides/slide1.xml" Id="Rc1096bc7bc4f42c1" /><Relationship Type="http://schemas.openxmlformats.org/officeDocument/2006/relationships/slide" Target="/ppt/slides/slide2.xml" Id="Raa53ace9120d4b41" /><Relationship Type="http://schemas.openxmlformats.org/officeDocument/2006/relationships/slide" Target="/ppt/slides/slide3.xml" Id="Raf716b3ac23c4df3" /><Relationship Type="http://schemas.openxmlformats.org/officeDocument/2006/relationships/slide" Target="/ppt/slides/slide4.xml" Id="Rdfd33b84ae8f43ba" /><Relationship Type="http://schemas.openxmlformats.org/officeDocument/2006/relationships/slide" Target="/ppt/slides/slide5.xml" Id="R14bf8afb0360437d" /><Relationship Type="http://schemas.openxmlformats.org/officeDocument/2006/relationships/slide" Target="/ppt/slides/slide6.xml" Id="R9e6281273a7a43ea" /><Relationship Type="http://schemas.openxmlformats.org/officeDocument/2006/relationships/slide" Target="/ppt/slides/slide7.xml" Id="R3702a1d08aab4fbc" /><Relationship Type="http://schemas.openxmlformats.org/officeDocument/2006/relationships/slide" Target="/ppt/slides/slide8.xml" Id="R91f1ddaa6e2145e7" /><Relationship Type="http://schemas.openxmlformats.org/officeDocument/2006/relationships/slide" Target="/ppt/slides/slide9.xml" Id="Rf3a6ff04f9b84fec" /><Relationship Type="http://schemas.openxmlformats.org/officeDocument/2006/relationships/slide" Target="/ppt/slides/slide10.xml" Id="R133c314089114228" /><Relationship Type="http://schemas.openxmlformats.org/officeDocument/2006/relationships/slide" Target="/ppt/slides/slide11.xml" Id="R36acd3b093ce4d05" /><Relationship Type="http://schemas.openxmlformats.org/officeDocument/2006/relationships/slide" Target="/ppt/slides/slide12.xml" Id="R5a61a80d3e174e89" /><Relationship Type="http://schemas.openxmlformats.org/officeDocument/2006/relationships/slide" Target="/ppt/slides/slide13.xml" Id="Ra55776044a4f44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5c90dd62fe4a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ff94182c7b4152" /><Relationship Type="http://schemas.openxmlformats.org/officeDocument/2006/relationships/notesMaster" Target="/ppt/notesMasters/notesMaster1.xml" Id="R97c548fa1a3644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ad4a78f59641fe" /><Relationship Type="http://schemas.openxmlformats.org/officeDocument/2006/relationships/notesMaster" Target="/ppt/notesMasters/notesMaster1.xml" Id="R380863fbb0c040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b988cfd8714d9d" /><Relationship Type="http://schemas.openxmlformats.org/officeDocument/2006/relationships/notesMaster" Target="/ppt/notesMasters/notesMaster1.xml" Id="Rbbfdf5faa7e448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320f971af74839" /><Relationship Type="http://schemas.openxmlformats.org/officeDocument/2006/relationships/notesMaster" Target="/ppt/notesMasters/notesMaster1.xml" Id="R0cddfc877df147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14f6300b244806" /><Relationship Type="http://schemas.openxmlformats.org/officeDocument/2006/relationships/notesMaster" Target="/ppt/notesMasters/notesMaster1.xml" Id="R961d8c4744bb4e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ec24fc7dc439d" /><Relationship Type="http://schemas.openxmlformats.org/officeDocument/2006/relationships/notesMaster" Target="/ppt/notesMasters/notesMaster1.xml" Id="Rb6ac6fcc93ac47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1ee641c7ba4dcc" /><Relationship Type="http://schemas.openxmlformats.org/officeDocument/2006/relationships/notesMaster" Target="/ppt/notesMasters/notesMaster1.xml" Id="Rb715bf67ec0a4b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efc5350308428f" /><Relationship Type="http://schemas.openxmlformats.org/officeDocument/2006/relationships/notesMaster" Target="/ppt/notesMasters/notesMaster1.xml" Id="R1aa2b2ee8da04e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34d18ebb20446b" /><Relationship Type="http://schemas.openxmlformats.org/officeDocument/2006/relationships/notesMaster" Target="/ppt/notesMasters/notesMaster1.xml" Id="Rc83f600e628f4e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7ae4b64de1400d" /><Relationship Type="http://schemas.openxmlformats.org/officeDocument/2006/relationships/notesMaster" Target="/ppt/notesMasters/notesMaster1.xml" Id="Rb473c45f46d048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ebf2a3ff18486f" /><Relationship Type="http://schemas.openxmlformats.org/officeDocument/2006/relationships/notesMaster" Target="/ppt/notesMasters/notesMaster1.xml" Id="R746ff8c602d447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322eea542643b2" /><Relationship Type="http://schemas.openxmlformats.org/officeDocument/2006/relationships/notesMaster" Target="/ppt/notesMasters/notesMaster1.xml" Id="Rb0ff99f19b4b48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b236db3e2a4250" /><Relationship Type="http://schemas.openxmlformats.org/officeDocument/2006/relationships/notesMaster" Target="/ppt/notesMasters/notesMaster1.xml" Id="R56f0b8fbf9a840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722175c2745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c315b2ae5641ca" /><Relationship Type="http://schemas.openxmlformats.org/officeDocument/2006/relationships/slideLayout" Target="/ppt/slideLayouts/slideLayout1.xml" Id="Re465cb31c63c42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65cb31c63c42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6e2135bbf4cb7" /><Relationship Type="http://schemas.openxmlformats.org/officeDocument/2006/relationships/image" Target="/ppt/media/image.jpeg" Id="R45a78990e0e24e01" /><Relationship Type="http://schemas.openxmlformats.org/officeDocument/2006/relationships/notesSlide" Target="/ppt/notesSlides/notesSlide1.xml" Id="R7a774f9d46ac40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5a62975f44e9b" /><Relationship Type="http://schemas.openxmlformats.org/officeDocument/2006/relationships/notesSlide" Target="/ppt/notesSlides/notesSlide2.xml" Id="Rd6bfd3dfcda144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2696a15834293" /><Relationship Type="http://schemas.openxmlformats.org/officeDocument/2006/relationships/chart" Target="/ppt/slides/charts/chart1.xml" Id="Rb315156597164ed3" /><Relationship Type="http://schemas.openxmlformats.org/officeDocument/2006/relationships/notesSlide" Target="/ppt/notesSlides/notesSlide3.xml" Id="R5dd913b9b2104e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6b09bf85449e6" /><Relationship Type="http://schemas.openxmlformats.org/officeDocument/2006/relationships/notesSlide" Target="/ppt/notesSlides/notesSlide4.xml" Id="Ra13394159c9944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2dda250ed47a2" /><Relationship Type="http://schemas.openxmlformats.org/officeDocument/2006/relationships/image" Target="/ppt/media/image2.jpeg" Id="R2bb81a8dee34445b" /><Relationship Type="http://schemas.openxmlformats.org/officeDocument/2006/relationships/notesSlide" Target="/ppt/notesSlides/notesSlide5.xml" Id="Rb324a4037dc843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93fee4fba4062" /><Relationship Type="http://schemas.openxmlformats.org/officeDocument/2006/relationships/notesSlide" Target="/ppt/notesSlides/notesSlide6.xml" Id="R01ad0f9af1bf47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75847abef4c05" /><Relationship Type="http://schemas.openxmlformats.org/officeDocument/2006/relationships/notesSlide" Target="/ppt/notesSlides/notesSlide7.xml" Id="Rd1ed061b75ac45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ab954eed74780" /><Relationship Type="http://schemas.openxmlformats.org/officeDocument/2006/relationships/chart" Target="/ppt/slides/charts/chart2.xml" Id="Rad2c89ac408448e9" /><Relationship Type="http://schemas.openxmlformats.org/officeDocument/2006/relationships/notesSlide" Target="/ppt/notesSlides/notesSlide8.xml" Id="R8c54477a354d45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9ff5910a14915" /><Relationship Type="http://schemas.openxmlformats.org/officeDocument/2006/relationships/chart" Target="/ppt/slides/charts/chart3.xml" Id="R38dc3acaa9754653" /><Relationship Type="http://schemas.openxmlformats.org/officeDocument/2006/relationships/notesSlide" Target="/ppt/notesSlides/notesSlide9.xml" Id="R60216ee5774a46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c9fb74c464aa1" /><Relationship Type="http://schemas.openxmlformats.org/officeDocument/2006/relationships/image" Target="/ppt/media/image.png" Id="R238510be83184828" /><Relationship Type="http://schemas.openxmlformats.org/officeDocument/2006/relationships/notesSlide" Target="/ppt/notesSlides/notesSlide10.xml" Id="R2795456bbd1444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a3374e0ba42f2" /><Relationship Type="http://schemas.openxmlformats.org/officeDocument/2006/relationships/image" Target="/ppt/media/image3.jpeg" Id="R163e4baaaaa1460b" /><Relationship Type="http://schemas.openxmlformats.org/officeDocument/2006/relationships/notesSlide" Target="/ppt/notesSlides/notesSlide11.xml" Id="R26c639f2118641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0fe2e12b54bcf" /><Relationship Type="http://schemas.openxmlformats.org/officeDocument/2006/relationships/notesSlide" Target="/ppt/notesSlides/notesSlide12.xml" Id="R073a4f272fca4b1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46f31301847d9" /><Relationship Type="http://schemas.openxmlformats.org/officeDocument/2006/relationships/notesSlide" Target="/ppt/notesSlides/notesSlide13.xml" Id="R4cacb4a632814bd8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Images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akiec</c:v>
              </c:pt>
              <c:pt idx="1">
                <c:v>bcc</c:v>
              </c:pt>
              <c:pt idx="2">
                <c:v>bkl</c:v>
              </c:pt>
              <c:pt idx="3">
                <c:v>df</c:v>
              </c:pt>
              <c:pt idx="4">
                <c:v>mel</c:v>
              </c:pt>
              <c:pt idx="5">
                <c:v>nv</c:v>
              </c:pt>
              <c:pt idx="6">
                <c:v>vasc</c:v>
              </c:pt>
            </c:strLit>
          </c:cat>
          <c:val>
            <c:numLit>
              <c:formatCode>General</c:formatCode>
              <c:ptCount val="7"/>
              <c:pt idx="0">
                <c:v>327</c:v>
              </c:pt>
              <c:pt idx="1">
                <c:v>514</c:v>
              </c:pt>
              <c:pt idx="2">
                <c:v>1099</c:v>
              </c:pt>
              <c:pt idx="3">
                <c:v>115</c:v>
              </c:pt>
              <c:pt idx="4">
                <c:v>1113</c:v>
              </c:pt>
              <c:pt idx="5">
                <c:v>6705</c:v>
              </c:pt>
              <c:pt idx="6">
                <c:v>142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lineChart>
        <c:grouping val="standard"/>
        <c:ser>
          <c:idx val="0"/>
          <c:order val="0"/>
          <c:tx>
            <c:v>Val F1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numLit>
              <c:formatCode>General</c:formatCode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numLit>
          </c:cat>
          <c:val>
            <c:numLit>
              <c:formatCode>General</c:formatCode>
              <c:ptCount val="7"/>
              <c:pt idx="0">
                <c:v>0.3079</c:v>
              </c:pt>
              <c:pt idx="1">
                <c:v>0.3618</c:v>
              </c:pt>
              <c:pt idx="2">
                <c:v>0.4118</c:v>
              </c:pt>
              <c:pt idx="3">
                <c:v>0.3945</c:v>
              </c:pt>
              <c:pt idx="4">
                <c:v>0.4417</c:v>
              </c:pt>
              <c:pt idx="5">
                <c:v>0.4287</c:v>
              </c:pt>
              <c:pt idx="6">
                <c:v>0.4588</c:v>
              </c:pt>
            </c:numLit>
          </c:val>
          <c:smooth val="0"/>
        </c:ser>
        <c:ser>
          <c:idx val="1"/>
          <c:order val="1"/>
          <c:tx>
            <c:v>Val accuracy</c:v>
          </c:tx>
          <c:spPr>
            <a:solidFill xmlns:a="http://schemas.openxmlformats.org/drawingml/2006/main">
              <a:srgbClr val="111111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numLit>
              <c:formatCode>General</c:formatCode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numLit>
          </c:cat>
          <c:val>
            <c:numLit>
              <c:formatCode>General</c:formatCode>
              <c:ptCount val="7"/>
              <c:pt idx="0">
                <c:v>0.316</c:v>
              </c:pt>
              <c:pt idx="1">
                <c:v>0.3846</c:v>
              </c:pt>
              <c:pt idx="2">
                <c:v>0.481</c:v>
              </c:pt>
              <c:pt idx="3">
                <c:v>0.4431</c:v>
              </c:pt>
              <c:pt idx="4">
                <c:v>0.4604</c:v>
              </c:pt>
              <c:pt idx="5">
                <c:v>0.4405</c:v>
              </c:pt>
              <c:pt idx="6">
                <c:v>0.4717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Score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Accuracy</c:v>
              </c:pt>
              <c:pt idx="1">
                <c:v>Precision</c:v>
              </c:pt>
              <c:pt idx="2">
                <c:v>Recall</c:v>
              </c:pt>
              <c:pt idx="3">
                <c:v>F1</c:v>
              </c:pt>
              <c:pt idx="4">
                <c:v>ROC-AUC</c:v>
              </c:pt>
            </c:strLit>
          </c:cat>
          <c:val>
            <c:numLit>
              <c:formatCode>General</c:formatCode>
              <c:ptCount val="5"/>
              <c:pt idx="0">
                <c:v>46.7</c:v>
              </c:pt>
              <c:pt idx="1">
                <c:v>44.8</c:v>
              </c:pt>
              <c:pt idx="2">
                <c:v>75.7</c:v>
              </c:pt>
              <c:pt idx="3">
                <c:v>46.7</c:v>
              </c:pt>
              <c:pt idx="4">
                <c:v>94.4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392F9-B135-4E21-94C1-463B38FF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47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Skin Cancer Detection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15C63-24B2-4585-BEF8-120EE275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55555"/>
                </a:solidFill>
              </a:defRPr>
            </a:pPr>
            <a:r>
              <a:rPr sz="2550" b="0">
                <a:solidFill>
                  <a:srgbClr val="555555"/>
                </a:solidFill>
              </a:rPr>
              <a:t>Using Deep Learning and Explainable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9CFC4-2CD1-4E34-A802-444E9BF6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HAM10000 | PyTorch | EfficientNet | ViT | Grad-CAM | Streamlit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F0E23-BD21-4DF2-8AFD-7B6857B6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143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5B9D7-6716-4DF5-905D-80BF3EE1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End-to-end 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3026A-2636-4066-8702-57A53773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8E8E8"/>
                </a:solidFill>
              </a:defRPr>
            </a:pPr>
            <a:r>
              <a:rPr sz="1275" b="0">
                <a:solidFill>
                  <a:srgbClr val="E8E8E8"/>
                </a:solidFill>
              </a:rPr>
              <a:t>From dataset loading to a working web app with prediction heatmaps.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78990e0e24e01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0" y="87630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D71A5-61FE-4B38-B79B-DACCD939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01</a:t>
            </a:r>
          </a:p>
        </p:txBody>
      </p:sp>
    </p:spTree>
    <p:extLst>
      <p:ext uri="{BB962C8B-B14F-4D97-AF65-F5344CB8AC3E}">
        <p14:creationId xmlns:p14="http://schemas.microsoft.com/office/powerpoint/2010/main" val="17263078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5C95B3-AE87-4314-8351-E3702535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14152-A360-4537-884A-00EDB1EE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Project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BB58C-AFFC-4771-9F7A-7E4871CF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92D69-E8C3-4AF2-8AB6-7D32283F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971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Build a complete pipeline that can classify dermoscopic lesion images and explain the visual evidence behind each prediction.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E165E-0E46-461B-8F4B-25625378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Use HAM10000 as the supervised image dataset.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Compare a CNN baseline against a Vision Transformer.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Evaluate with medical-ML-friendly metrics, not accuracy alone.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Expose predictions through a Streamlit app with Grad-CAM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47217-6121-486F-BEA9-7FDBB984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09800"/>
            <a:ext cx="1619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88923-2712-4E88-8E11-E2265BA3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574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414C0-79E6-4168-B533-B072AA14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38500"/>
            <a:ext cx="123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diagnostic classes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59D9B-53FB-4DDC-A690-E992E75C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02</a:t>
            </a:r>
          </a:p>
        </p:txBody>
      </p:sp>
    </p:spTree>
    <p:extLst>
      <p:ext uri="{BB962C8B-B14F-4D97-AF65-F5344CB8AC3E}">
        <p14:creationId xmlns:p14="http://schemas.microsoft.com/office/powerpoint/2010/main" val="16760152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2E1907-1F06-4C9D-A0DE-63BEB25E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E8827-39AE-4BFD-B3C4-C7C3DCD3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Dataset: HAM10000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10DDD-1C20-4966-9724-A4C67A77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AA451-4043-4A1F-A14D-FAEA670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953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metadata file defines the exact seven output classes. The model cannot predict diseases outside these labels unless new labeled data is added.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E7CAB-5FDA-44C3-AA2F-B0C8C69C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akiec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AFA5B-EA21-4B12-94D9-63D1DA31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Actinic keratoses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8BFC5-D01A-420D-B79B-F4ABAB88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bcc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E4F89-65B9-4040-AF3F-1CD2598E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909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Basal cell carcinoma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8D46B-58BA-4121-BEDB-B54C3803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bkl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FF584-101F-437A-B97C-FF178BFE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52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Benign keratosis-like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58F8D-E817-4B1D-A401-29408352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B0A6B-BAAE-4B65-8DCC-F43F6B85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148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Dermatofibroma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23491-0C52-4714-BC92-46857B0D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mel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11FEA4-85BC-4766-9310-F3A934A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Melanoma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0A8DE-680C-4D86-B42C-1378FBBD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nv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F1A05-4518-4A56-9078-0BD510E8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387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Melanocytic nevi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7029C6-0E56-4EFF-A658-6E922800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vasc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F49FD-F704-4E14-AE6B-B755A479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Vascular lesions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191250" y="2076450"/>
          <a:ext xmlns:a="http://schemas.openxmlformats.org/drawingml/2006/main" cx="4953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15156597164ed3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2AE80F-0599-48D6-9CD3-096133AE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03</a:t>
            </a:r>
          </a:p>
        </p:txBody>
      </p:sp>
    </p:spTree>
    <p:extLst>
      <p:ext uri="{BB962C8B-B14F-4D97-AF65-F5344CB8AC3E}">
        <p14:creationId xmlns:p14="http://schemas.microsoft.com/office/powerpoint/2010/main" val="4041590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25A52-C41B-42AE-80C6-70957E36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D7055-EF4C-4813-8E47-EDE77D4F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End-to-end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67B3E-74B6-4760-8874-F95DAE54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5D82A-2E20-4677-BA38-989D91F8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13143-1882-42E0-BB2C-D73B6F14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EEC10-8385-47B6-95F6-8DF4E4DF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Dataset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56CEA2-DB9E-400B-B62C-BE3434DB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146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6E1F7-9077-4518-8AFC-1FE7A963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C9374-7AFE-48FE-B851-46B87F1E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61582-D924-44C9-96C5-F5D48F06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Preprocess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B7943-29D0-4FDC-BE93-14ACBD3C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146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90962-3BA5-47FE-A4C5-8DAD0C24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D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77336-5472-4DFB-A022-8D984A67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2AEC7-6458-4C72-8CB2-D5F5F1BE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Train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A2410-C021-44D4-B4C0-3A929392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9146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02286-5B86-48B0-95B4-2E5A2CDD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C5C563-C804-4775-B489-1E5DF305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6B8BE6-C8EF-40AF-85B5-CDDC0CFE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Evaluate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3B04E-8FCC-458F-A5F6-40D5B150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146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2EE1FE-A9BB-4708-9DD1-CC0B4A22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5EF95-B5F6-4794-9B17-FE12F2C5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F30821-9111-4CEB-93C5-15EAC0F4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Explain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115942-4F4B-4F68-BBF3-E715232C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266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3E89AF-197E-45A0-9862-FFFE51D3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1381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3B4FA-68BB-4B7D-B2BC-8068D742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241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256B4C-4135-4585-AC53-65D6DE57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43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Deploy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CF2DD-00AC-4F32-BB71-616CEFD1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Every stage is modular: data, models, training, evaluation, utilities, and app code are separated into reusable files.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563725-F07A-45C5-8ECF-F1F4760E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04</a:t>
            </a:r>
          </a:p>
        </p:txBody>
      </p:sp>
    </p:spTree>
    <p:extLst>
      <p:ext uri="{BB962C8B-B14F-4D97-AF65-F5344CB8AC3E}">
        <p14:creationId xmlns:p14="http://schemas.microsoft.com/office/powerpoint/2010/main" val="6457468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FE558C-D173-4227-AB9D-BABD4B2E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1C1AD-585F-4882-81F8-E3E73BA4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Preprocessing and augmentation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8C320-85C3-4CA3-BC35-85E4A47A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81a8dee34445b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38350"/>
            <a:ext cx="3333750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EFD16-5386-44CD-A60B-69D4F329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Training images are transformed to improve robustness.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7A2D9-706B-4F46-B695-2EE9136C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619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- Resize every image to 224 x 224 pixels.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- Convert image pixels into PyTorch tensors.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- Normalize with ImageNet mean and standard deviation.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- Apply random flips, rotations, and color jitter only during training.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- Keep validation, test, and app inference deterministic.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8F5D7-CC6D-43C9-9AE6-2DC229CA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05</a:t>
            </a:r>
          </a:p>
        </p:txBody>
      </p:sp>
    </p:spTree>
    <p:extLst>
      <p:ext uri="{BB962C8B-B14F-4D97-AF65-F5344CB8AC3E}">
        <p14:creationId xmlns:p14="http://schemas.microsoft.com/office/powerpoint/2010/main" val="14459706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6139E3-57EC-4076-97B3-5F56B08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480F74-4E6C-46BD-9665-A8A8B4CC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Model comparison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86223-4B3D-42D6-AD2F-EEA3EA06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4B99C-4A08-42EE-9D76-59CA8F57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B59F7-1FAB-4EE1-A459-60C1B597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EfficientNet-B0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AEC6F-7001-4051-BC6F-DC8A94ED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71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CNN baseline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Good accuracy-to-compute balance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Pretrained on ImageNet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Best practical choice for CPU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4ECE4-0FF6-40BA-97E1-E84172F9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90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350F3-8BDA-4BB9-8775-0A9271A1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336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Vision Transformer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0D1DE-75F0-4985-BE82-58D43EE7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62300"/>
            <a:ext cx="3905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Patch-token attention model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Learns global image relationships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Useful comparison against CNNs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Usually slower on CPU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BC795-E8ED-4DDB-AA64-8C363C69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06</a:t>
            </a:r>
          </a:p>
        </p:txBody>
      </p:sp>
    </p:spTree>
    <p:extLst>
      <p:ext uri="{BB962C8B-B14F-4D97-AF65-F5344CB8AC3E}">
        <p14:creationId xmlns:p14="http://schemas.microsoft.com/office/powerpoint/2010/main" val="11441892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D6889B-F856-4513-83E6-E02D303C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83DB9-4AB4-4700-AB57-6F771C0E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Training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D1279-3A56-497D-B818-A891B5B2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F655D-7106-4336-A202-B21E6F65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224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AD58EA-A29B-4A54-8105-095FCC15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Image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98265-8966-4555-95C6-9BB8F719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F44BE-AFC9-4283-91EC-96BB9A29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7C931-DBAA-4E37-B43B-34ECC131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D6056-FFAC-4A44-9D7B-4E0F0EDE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Epochs configured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501937-4B96-44ED-94D6-CE762D9F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ECA12-89F8-4C74-91F4-83F2169C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Classes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AC284-60EA-4CBA-95DF-D22B4EFB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923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Training used weighted sampling and weighted cross-entropy to handle the class imbalance visible in HAM10000.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0A127-2AA5-40FE-87FC-F61417D3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AdamW optimizer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Cosine learning-rate schedule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Early stopping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Best checkpoint saved by validation F1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28326-8211-4488-BBD1-EC3CDB01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07</a:t>
            </a:r>
          </a:p>
        </p:txBody>
      </p:sp>
    </p:spTree>
    <p:extLst>
      <p:ext uri="{BB962C8B-B14F-4D97-AF65-F5344CB8AC3E}">
        <p14:creationId xmlns:p14="http://schemas.microsoft.com/office/powerpoint/2010/main" val="912673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9B937F-CBD2-479C-9BEE-B71B26CB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BBC4-26D5-484D-AA82-EC03AF87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EfficientNet training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129F6-BE99-4EC3-90B9-74227BB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762000" y="2076450"/>
          <a:ext xmlns:a="http://schemas.openxmlformats.org/drawingml/2006/main" cx="7239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2c89ac408448e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6ED8C-0E40-4431-B3BC-7079DCD9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2476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D0CFD-4D6D-4184-90F9-048A1941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Best checkpoint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08027-DA4A-4EE8-9CBE-B00930B8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05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Epoch 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02B80-DF68-4C0C-933D-45720C26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3380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Saved as checkpoints/best_efficientnet.pt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3C3DD0-F025-4562-9F87-06DAE5DD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08</a:t>
            </a:r>
          </a:p>
        </p:txBody>
      </p:sp>
    </p:spTree>
    <p:extLst>
      <p:ext uri="{BB962C8B-B14F-4D97-AF65-F5344CB8AC3E}">
        <p14:creationId xmlns:p14="http://schemas.microsoft.com/office/powerpoint/2010/main" val="8755030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7597D7-1CBA-4B61-A029-446B2824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D1864-0BA2-4499-9676-F88E0273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Evaluation results: EfficientNet 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694688-B9CF-4676-B47B-4A6C6C43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781050" y="2133600"/>
          <a:ext xmlns:a="http://schemas.openxmlformats.org/drawingml/2006/main" cx="6858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dc3acaa975465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91F5C-E649-42E0-BF81-520A443F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Result interpretation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290A0-F8BF-4795-87AA-6B8F0576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813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ROC-AUC is strong, showing useful class separation.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Accuracy and F1 are limited because training ran on CPU and stopped early.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Recall is high, but precision needs improvement with longer training and tuning.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6DC14-CE80-4553-A57A-186FF804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09</a:t>
            </a:r>
          </a:p>
        </p:txBody>
      </p:sp>
    </p:spTree>
    <p:extLst>
      <p:ext uri="{BB962C8B-B14F-4D97-AF65-F5344CB8AC3E}">
        <p14:creationId xmlns:p14="http://schemas.microsoft.com/office/powerpoint/2010/main" val="11627993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3479B3-CCFD-428C-8E2F-E8DED285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782FE-DE95-409F-8D10-6B540320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Confusion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A9519-6112-4A21-9C0A-63994026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510be83184828"/>
          <a:srcRect xmlns:a="http://schemas.openxmlformats.org/drawingml/2006/main" l="0" t="638" r="0" b="6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" y="1866900"/>
            <a:ext cx="5334000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7D7A4-3C6B-4636-BA2D-1615E956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145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Why this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3D2C3-CADF-43F8-987E-5EF93D84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3905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Shows which classes are confused with each other.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More informative than accuracy for imbalanced medical data.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Helps identify classes that need more samples or stronger augmentation.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Supports the comparison between EfficientNet and ViT once both are trained.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5B1B1-BD7C-4B14-A77D-A8FBAF87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10</a:t>
            </a:r>
          </a:p>
        </p:txBody>
      </p:sp>
    </p:spTree>
    <p:extLst>
      <p:ext uri="{BB962C8B-B14F-4D97-AF65-F5344CB8AC3E}">
        <p14:creationId xmlns:p14="http://schemas.microsoft.com/office/powerpoint/2010/main" val="11427684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31C365-DDC1-4337-A7EF-A9744CA5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E40A2-A2F5-4617-A9DA-9246C2FC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Explainability and web app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3DA86-60A5-448A-81B8-C32D3E5C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e4baaaaa1460b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38350"/>
            <a:ext cx="3143250" cy="3143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3EDFF-0D7F-494C-A45A-B998D13E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38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440DF-6992-468E-BD73-3BBCFA45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9146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Grad-CAM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32723-8198-4BF9-BD0B-97D34104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heatmap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A840D-0F3D-49E1-9E65-748CF75D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862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Generated at inference 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CE2D12-F338-4A03-BED7-0CBAAAB6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33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Streamlit app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D0E04-DC5A-46D9-A25E-8CFF5272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81300"/>
            <a:ext cx="285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Upload lesion image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View predicted class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View confidence score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Inspect Grad-CAM overlay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Read short explanation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19B5C-D39B-4B47-8750-35800B3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11</a:t>
            </a:r>
          </a:p>
        </p:txBody>
      </p:sp>
    </p:spTree>
    <p:extLst>
      <p:ext uri="{BB962C8B-B14F-4D97-AF65-F5344CB8AC3E}">
        <p14:creationId xmlns:p14="http://schemas.microsoft.com/office/powerpoint/2010/main" val="29389174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FA93EB-76CD-4788-BD53-BE8B9B1F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1B9B0C-EB7D-4A38-BDC1-91AE0207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Limitations and 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AC3B50-7757-4DE6-A4A2-F7D62E38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5966A-C904-4724-B469-EADA91B4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FC2F4-20E3-40EB-9E84-71A3A4EF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Current limitations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BC61C-7038-4B53-90AB-82CFE91B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3810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Not a medical diagnostic device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HAM10000 is class-imbalanced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CPU training limits final accuracy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Grad-CAM explains influence, not correctness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48345-B948-4BD9-AFA7-41EDC793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E6038-15D9-498F-9B31-AB1085EA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9555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Recommended improvements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AA37E-2809-4C6D-80DF-0D44897A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67050"/>
            <a:ext cx="3810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Train longer with GPU support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Tune augmentation and class weights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Complete ViT comparison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Add external validation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77724-58AF-40F3-B67A-FFCEBA7E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The application already demonstrates a complete research-to-app workflow.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03943F-144A-414E-9A90-0D54416A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12</a:t>
            </a:r>
          </a:p>
        </p:txBody>
      </p:sp>
    </p:spTree>
    <p:extLst>
      <p:ext uri="{BB962C8B-B14F-4D97-AF65-F5344CB8AC3E}">
        <p14:creationId xmlns:p14="http://schemas.microsoft.com/office/powerpoint/2010/main" val="11476586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2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7CD83E-0468-4CB5-9B14-30FB3A73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0ACBC-376E-4D93-875D-EC351384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847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8E8E8"/>
                </a:solidFill>
              </a:defRPr>
            </a:pPr>
            <a:r>
              <a:rPr sz="2100" b="0">
                <a:solidFill>
                  <a:srgbClr val="E8E8E8"/>
                </a:solidFill>
              </a:rPr>
              <a:t>Skin Cancer Detection Using Deep Learning and Explainable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D9C24-E86B-44FF-A597-D9BFDA6E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Demo: streamlit run app/streamlit_app.py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2CAAA-D046-40E0-89C1-4BE638D9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8E8E8"/>
                </a:solidFill>
              </a:defRPr>
            </a:pPr>
            <a:r>
              <a:rPr sz="1650" b="0">
                <a:solidFill>
                  <a:srgbClr val="E8E8E8"/>
                </a:solidFill>
              </a:rPr>
              <a:t>Checkpoint: checkpoints/best_efficientnet.pt</a:t>
            </a:r>
          </a:p>
        </p:txBody>
      </p:sp>
    </p:spTree>
    <p:extLst>
      <p:ext uri="{BB962C8B-B14F-4D97-AF65-F5344CB8AC3E}">
        <p14:creationId xmlns:p14="http://schemas.microsoft.com/office/powerpoint/2010/main" val="20570691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2026-06-30T22:55:39.7380000Z</dcterms:created>
  <dcterms:modified xsi:type="dcterms:W3CDTF">2026-06-30T22:55:39.7380000Z</dcterms:modified>
</coreProperties>
</file>